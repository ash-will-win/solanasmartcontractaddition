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92504e04da42bd" /><Relationship Type="http://schemas.openxmlformats.org/officeDocument/2006/relationships/extended-properties" Target="/docProps/app.xml" Id="Rc7d671df402944c6" /><Relationship Type="http://schemas.openxmlformats.org/officeDocument/2006/relationships/officeDocument" Target="/ppt/presentation.xml" Id="R1455fff66726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67807c3164e47"/>
  </p:sldMasterIdLst>
  <p:notesMasterIdLst>
    <p:notesMasterId xmlns:r="http://schemas.openxmlformats.org/officeDocument/2006/relationships" r:id="R35ec905468b84870"/>
  </p:notesMasterIdLst>
  <p:sldIdLst>
    <p:sldId xmlns:r="http://schemas.openxmlformats.org/officeDocument/2006/relationships" id="256" r:id="Rdce4617783164688"/>
    <p:sldId xmlns:r="http://schemas.openxmlformats.org/officeDocument/2006/relationships" id="257" r:id="R813265eae9d64e9d"/>
    <p:sldId xmlns:r="http://schemas.openxmlformats.org/officeDocument/2006/relationships" id="258" r:id="R9f1b61a3e0084cb8"/>
    <p:sldId xmlns:r="http://schemas.openxmlformats.org/officeDocument/2006/relationships" id="259" r:id="Rc83750d8d023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0258817b94e34" /><Relationship Type="http://schemas.openxmlformats.org/officeDocument/2006/relationships/slideMaster" Target="/ppt/slideMasters/slideMaster1.xml" Id="Raa867807c3164e47" /><Relationship Type="http://schemas.openxmlformats.org/officeDocument/2006/relationships/notesMaster" Target="/ppt/notesMasters/notesMaster1.xml" Id="R35ec905468b84870" /><Relationship Type="http://schemas.openxmlformats.org/officeDocument/2006/relationships/presProps" Target="/ppt/presProps.xml" Id="Rb079f95a24754d27" /><Relationship Type="http://schemas.openxmlformats.org/officeDocument/2006/relationships/tableStyles" Target="/ppt/tableStyles.xml" Id="Rebd93a6a272b43c0" /><Relationship Type="http://schemas.openxmlformats.org/officeDocument/2006/relationships/slide" Target="/ppt/slides/slide1.xml" Id="Rdce4617783164688" /><Relationship Type="http://schemas.openxmlformats.org/officeDocument/2006/relationships/slide" Target="/ppt/slides/slide2.xml" Id="R813265eae9d64e9d" /><Relationship Type="http://schemas.openxmlformats.org/officeDocument/2006/relationships/slide" Target="/ppt/slides/slide3.xml" Id="R9f1b61a3e0084cb8" /><Relationship Type="http://schemas.openxmlformats.org/officeDocument/2006/relationships/slide" Target="/ppt/slides/slide4.xml" Id="Rc83750d8d023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4ac4c8d4440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4a84ae25e4515" /><Relationship Type="http://schemas.openxmlformats.org/officeDocument/2006/relationships/notesMaster" Target="/ppt/notesMasters/notesMaster1.xml" Id="R09ed66695bec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d9f8a24154a84" /><Relationship Type="http://schemas.openxmlformats.org/officeDocument/2006/relationships/notesMaster" Target="/ppt/notesMasters/notesMaster1.xml" Id="Rb63c564dfc714a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de7041f004221" /><Relationship Type="http://schemas.openxmlformats.org/officeDocument/2006/relationships/notesMaster" Target="/ppt/notesMasters/notesMaster1.xml" Id="Rf8d70823a77f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1bd2a541974a4c" /><Relationship Type="http://schemas.openxmlformats.org/officeDocument/2006/relationships/notesMaster" Target="/ppt/notesMasters/notesMaster1.xml" Id="R9298be101937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SOLstice connects off-chain verification with on-chain enforcement in a devnet proof of concept. A centralized verifier submits a condition result; the Solana program enforces the escrow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Solana programs execute when an instruction in a transaction invokes them. The instruction supplies the accounts the program can read or modify. Source: https://solana.com/docs/core/programs and https://solana.com/docs/core.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 lets users define real-world conditions when available evidence can support checks. Public web and Reddit search snippets are evaluated off-chain, then the centralized verifier submits a signed result. The verifier is trusted in this devnet proof of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starts after the user enables a condition. A simulated trigger starts the real verification runner. The centralized verifier records the result. The Solana program can release a linked, funded devnet escrow after it receives a passing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e4e4c037242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add657f61447e" /><Relationship Type="http://schemas.openxmlformats.org/officeDocument/2006/relationships/slideLayout" Target="/ppt/slideLayouts/slideLayout1.xml" Id="R86a379591a1e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a379591a1e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84af649fc4302" /><Relationship Type="http://schemas.openxmlformats.org/officeDocument/2006/relationships/notesSlide" Target="/ppt/notesSlides/notesSlide1.xml" Id="R2b76ee3952684e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9a619b6f4ebc" /><Relationship Type="http://schemas.openxmlformats.org/officeDocument/2006/relationships/notesSlide" Target="/ppt/notesSlides/notesSlide2.xml" Id="Rb9fbb1c6b4c4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aaf94afeb486a" /><Relationship Type="http://schemas.openxmlformats.org/officeDocument/2006/relationships/notesSlide" Target="/ppt/notesSlides/notesSlide3.xml" Id="Rfa58114a19b14f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60a4f793c45f1" /><Relationship Type="http://schemas.openxmlformats.org/officeDocument/2006/relationships/notesSlide" Target="/ppt/notesSlides/notesSlide4.xml" Id="Rc9ab0e5c4750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50B58-792A-4F0F-9F5A-9BC3319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14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SOLstice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0B0F5-2A70-42C3-9E34-716ABBFC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3833-3312-4FC0-92EA-7B24280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Conditions beyond</a:t>
            </a:r>
          </a:p>
          <a:p xmlns:a="http://schemas.openxmlformats.org/drawingml/2006/main"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2298D-EEBE-47A6-AFBE-6C123B6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41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Program an escrow rule around a real-world condition.</a:t>
            </a:r>
          </a:p>
          <a:p xmlns:a="http://schemas.openxmlformats.org/drawingml/2006/main"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SOLstice delivers a verified result that a Solana program can enforce.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895E-BECF-443B-A490-A0B13C83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Ashwin Shrivastav, Akhil Swaminathan</a:t>
            </a:r>
          </a:p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Sudeep Gowda, Joshua Asirvatham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F39FB-3734-4175-9829-0ADDB73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48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MHACKS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F0B76-19EB-4CEE-B94F-6E65E3F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505450" cy="33147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091118"/>
          </a:solidFill>
          <a:ln xmlns:a="http://schemas.openxmlformats.org/drawingml/2006/main" w="9525">
            <a:solidFill>
              <a:srgbClr val="3D4A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33C9C-F654-49B8-95D2-9F0E32C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76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CONDITION EXECUTION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17912-ECB4-494D-80E0-4E4ABFB4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“Release escrow when</a:t>
            </a:r>
          </a:p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 is verified.”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C8A04-F1BB-40B3-8200-D1148E1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718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4A62B-87E6-442B-8F22-337CE29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90BFF-BF7A-4198-9E27-73E0C402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480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condition_result = 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5F184-EDCB-46A8-B517-2A4BE50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14750"/>
            <a:ext cx="609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9B1A4-10CA-4CB7-947C-6B9A5E37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772D4-42FB-4968-AFEF-61DAACE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48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release_escrow()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A7E93-C8D2-4E0F-B9C2-DDBFC59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0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verified condition becomes an on-chain fact.</a:t>
            </a:r>
          </a:p>
          <a:p xmlns:a="http://schemas.openxmlformats.org/drawingml/2006/main"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contract handles the settlement.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DD2A2-7F6E-4819-AC4E-9BE4CE4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CDF4C-7033-4423-BCD8-5204DA4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F7B0D-B1B5-4754-83C8-477B111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91221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36078-ED25-4BE1-A7EC-446A595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02 / EXECUTION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59F17-8FF4-4093-B587-966C01F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How a Solana program executes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99EE-5ACB-4A01-B33D-7594A5E6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transaction calls the program. The program reads the supplied on-chain accounts and decides what state can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29620-5C21-4611-8A12-26F6A60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A6D8C-331E-486E-B236-B7F3AE1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A239F-BF46-4624-927B-44E083A6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TRANSACTION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23CE5-4D8B-4DDD-A83F-2FDC9A02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rPr>
              <a:t>release_escrow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7C949-004B-4CAC-9C78-B2823BC8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FBE09-E9D1-40A2-83BA-92454B0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7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C1720"/>
                </a:solidFill>
                <a:latin typeface="Arial"/>
                <a:ea typeface="Arial"/>
                <a:cs typeface="Arial"/>
              </a:rPr>
              <a:t>Instruction plus</a:t>
            </a:r>
          </a:p>
          <a:p xmlns:a="http://schemas.openxmlformats.org/drawingml/2006/main"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C1720"/>
                </a:solidFill>
                <a:latin typeface="Arial"/>
                <a:ea typeface="Arial"/>
                <a:cs typeface="Arial"/>
              </a:rPr>
              <a:t>the accounts it can read or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13DC5-8047-433C-92D9-153FEE4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838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F7135-09B4-4538-A3E3-E9290332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533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5F8CC-7FCA-4FA3-9019-E16340F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7182E-4A6F-4874-9F7A-170720B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623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8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Checks the</a:t>
            </a:r>
          </a:p>
          <a:p xmlns:a="http://schemas.openxmlformats.org/drawingml/2006/main"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538E9-148B-4662-AAE9-E4EDCC3F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33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on-chain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E4BBF-B447-4DB2-8B96-0089FCA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838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924C9-7B9A-40A2-9663-005E059F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7C238-0ED1-4B59-A21F-9888C31C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92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SOL</a:t>
            </a:r>
          </a:p>
          <a:p xmlns:a="http://schemas.openxmlformats.org/drawingml/2006/main"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or keep escrow 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383EE-87BC-4A3F-90C5-88E43E7B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2AFBA-793B-4220-8B73-6E509E5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WHAT SITS OUTSIDE THE TRANSACTION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AF131-A953-4B58-BEA8-D9FD4FF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News, delivery status, documents, and other real-world facts need a trusted path into the program.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6FDD6-B475-4FA7-85FD-2DFEF4C0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809F0-292A-4BF1-A06E-C520AD6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2C1FB-F73F-4BDD-B074-44351E8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021573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ED724-6375-4669-AD3E-424DCD8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03 / THE SOLSTICE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18324-FA11-48C9-86F5-4358FBD5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53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External conditions,</a:t>
            </a:r>
          </a:p>
          <a:p xmlns:a="http://schemas.openxmlformats.org/drawingml/2006/main"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on-chain enforcement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C1A9C-0C6F-448A-A4EC-B235356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 turns a condition outside Solana into a result the program can enforce.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2DA73-75BA-412F-A30B-6921CA7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1E75F-1D7C-4CD8-9F39-98478D87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32EB7-007A-4BA8-B522-6A877F54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FBC15-9FBB-4EF2-919C-F877477F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 milestone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needs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3A596-F983-44CD-AF62-BD06054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user defines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what must be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99B4C-1F03-4C3B-BBD4-34846EB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4842-15FA-4675-8BC4-7B084053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5D9B-A872-4975-80A7-B0709D8F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78437-DCF3-4D84-8EFB-00BDB14D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958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Evidence supports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BF680-6F7C-43EA-A037-DBCC6795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 checks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available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696D8-63AF-49E0-A598-17BF6C6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8FA2F-5F6B-4D3C-B910-3A9CB58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F8195-D007-4156-841B-5A2AE379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ECE40-EDE5-4A76-8D24-C47AFE16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true / 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3553E-1F26-4334-8D3F-821385D2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verifier writes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result it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62EB8-D58A-4BFA-8FBE-6C6B4C03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BCFD1-D6D8-4C5B-ADF7-6741136B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E96B0-1A1D-44FA-B9B7-C1C975F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68BA3-45DD-400A-9C38-E68ED10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958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 can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810E3-1D05-4070-8F6D-2C34E90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57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Solana program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checks that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36CC3-CC96-4AC1-833D-363BDAE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9525">
            <a:solidFill>
              <a:srgbClr val="FF55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35927-C20F-488E-B3FF-A2B9B9F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smart contract still enforces its own rule. SOLstice supplies the verified condition it can read.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5AF19-7B5A-4C0A-91ED-6E6DE79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0FF2B-F07E-4CBA-BA33-EAE42E75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D5510-AED0-4684-83C1-CAAD77B8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EXTERNAL CONDITION LAYER</a:t>
            </a:r>
          </a:p>
        </p:txBody>
      </p:sp>
    </p:spTree>
    <p:extLst>
      <p:ext uri="{BB962C8B-B14F-4D97-AF65-F5344CB8AC3E}">
        <p14:creationId xmlns:p14="http://schemas.microsoft.com/office/powerpoint/2010/main" val="1506347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929456-183A-43C3-8AE2-9EDED50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 / AUTOMATIC SETTLEMENT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0B1EC-2996-4423-9BD1-F3936DB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74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One condition.</a:t>
            </a:r>
          </a:p>
          <a:p xmlns:a="http://schemas.openxmlformats.org/drawingml/2006/main"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Automatic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2664-394F-4D56-9B47-305F87D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developer sets the rule once. The program executes when the verifier reports that the condition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C1E28-89D1-4AFF-BE61-82C3C5D0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524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A1219"/>
          </a:solidFill>
          <a:ln xmlns:a="http://schemas.openxmlformats.org/drawingml/2006/main" w="9525">
            <a:solidFill>
              <a:srgbClr val="3D4A5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C2D7-AE76-4E29-A3F8-578F830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DEVELOPER CONDITION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AC146-2F90-4727-92D0-2ADA9FD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escrow when</a:t>
            </a:r>
          </a:p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claim is verified.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E46AC-F259-4F44-B8A4-93FB50C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Enabled automation waits for</a:t>
            </a:r>
          </a:p>
          <a:p xmlns:a="http://schemas.openxmlformats.org/drawingml/2006/main"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condition to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0F35A-300A-491D-8649-1794BA61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876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5EA07-AE6F-4985-A9FC-C375AE2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2457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26E96-B1E0-43EE-80BB-4000F08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480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F1C7D-AA40-4390-B60E-4E4C362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05225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condition_result</a:t>
            </a:r>
          </a:p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=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55F8-B3C7-40D9-86FF-D16DB35D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A signed result reaches</a:t>
            </a:r>
          </a:p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D5D27-3223-4AD5-AD7F-91E0F01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14775"/>
            <a:ext cx="876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70FDB-D290-4D08-A45C-C13BE9F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0"/>
            <a:ext cx="2028825" cy="21907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19050">
            <a:solidFill>
              <a:srgbClr val="D6E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D7132-A2F0-436F-9745-163C65C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480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5F7EE-4A86-404E-8A16-6362FA1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76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</a:t>
            </a:r>
          </a:p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escrow()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C488-A2C0-4E08-B5AF-3B9A149F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533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Escrow settles</a:t>
            </a:r>
          </a:p>
          <a:p xmlns:a="http://schemas.openxmlformats.org/drawingml/2006/main"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on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77C36-5FF3-42F9-9020-645E602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3700C-27C0-499B-ADB7-F550C9D1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DEMO CONTRACT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ABC86-9646-4092-8D98-42EF3E4C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34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Enabled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77E54-548E-4390-ABB8-AC75D09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A87E1-A56D-4565-B87C-1FBB5D01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340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Triggered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45D3E-6249-4678-A163-9B670542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DA142-BC0B-4E01-B89E-D1B5CCA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34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B89C7-ABE4-46E6-B435-19AFE6C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2519B-C98D-4E18-83DF-9EF772E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3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Executed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0F2B0-98CF-42FC-AA95-AAF1CCBA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26A1F-01C6-4265-A7B7-6D282B99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81C20-8833-47A1-AA70-C80301B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AUTOMATIC SETTLEMENT</a:t>
            </a:r>
          </a:p>
        </p:txBody>
      </p:sp>
    </p:spTree>
    <p:extLst>
      <p:ext uri="{BB962C8B-B14F-4D97-AF65-F5344CB8AC3E}">
        <p14:creationId xmlns:p14="http://schemas.microsoft.com/office/powerpoint/2010/main" val="39662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2026-10-04T14:58:42.7260000Z</dcterms:created>
  <dcterms:modified xsi:type="dcterms:W3CDTF">2026-10-04T14:58:42.7260000Z</dcterms:modified>
</coreProperties>
</file>