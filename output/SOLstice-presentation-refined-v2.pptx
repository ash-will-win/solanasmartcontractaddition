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SOLstice connects off-chain verification with on-chain enforcement in a devnet proof of concept. A centralized verifier submits a condition result; the Solana program enforces the escrow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Solana programs execute when an instruction in a transaction invokes them. The instruction supplies the accounts the program can read or modify. Source: https://solana.com/docs/core/programs and https://solana.com/docs/core.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application lets users define real-world conditions when available evidence can support checks. Public web and Reddit search snippets are evaluated off-chain, then the centralized verifier submits a signed result. The verifier is trusted in this devnet proof of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demo starts after the user enables a condition. A simulated trigger starts the real verification runner. The centralized verifier records the result. The Solana program can release a linked, funded devnet escrow after it receives a passing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7D25D59-5B98-43F4-9A27-24A332E76872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4667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714"/>
          </a:bodyPr>
          <a:lstStyle/>
          <a:p>
            <a:pPr>
              <a:defRPr sz="5250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5250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SOLstice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5F449C-B845-42ED-9EC0-0F4FB8EFC0AA}"/>
              </a:ext>
            </a:extLst>
          </p:cNvPr>
          <p:cNvSpPr>
            <a:spLocks noGrp="1"/>
          </p:cNvSpPr>
          <p:nvPr/>
        </p:nvSpPr>
        <p:spPr>
          <a:xfrm>
            <a:off x="704850" y="1752600"/>
            <a:ext cx="1562100" cy="28575"/>
          </a:xfrm>
          <a:prstGeom prst="rect">
            <a:avLst/>
          </a:prstGeom>
          <a:solidFill>
            <a:srgbClr val="FF55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A87317-72E0-4157-A758-97900D13902E}"/>
              </a:ext>
            </a:extLst>
          </p:cNvPr>
          <p:cNvSpPr>
            <a:spLocks noGrp="1"/>
          </p:cNvSpPr>
          <p:nvPr/>
        </p:nvSpPr>
        <p:spPr>
          <a:xfrm>
            <a:off x="742950" y="1971675"/>
            <a:ext cx="4286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025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 dirty="0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Conditions beyond</a:t>
            </a:r>
          </a:p>
          <a:p>
            <a:pPr>
              <a:defRPr sz="2025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 dirty="0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on-chain state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738601-2B37-4FF6-B401-C5CE974BF9F6}"/>
              </a:ext>
            </a:extLst>
          </p:cNvPr>
          <p:cNvSpPr>
            <a:spLocks noGrp="1"/>
          </p:cNvSpPr>
          <p:nvPr/>
        </p:nvSpPr>
        <p:spPr>
          <a:xfrm>
            <a:off x="742950" y="3476625"/>
            <a:ext cx="4572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4916" lnSpcReduction="20000"/>
          </a:bodyPr>
          <a:lstStyle/>
          <a:p>
            <a:pPr>
              <a:defRPr sz="1650" b="0">
                <a:solidFill>
                  <a:srgbClr val="F4EEE2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F4EEE2"/>
                </a:solidFill>
                <a:latin typeface="Arial"/>
                <a:ea typeface="Arial"/>
                <a:cs typeface="Arial"/>
              </a:rPr>
              <a:t>Program </a:t>
            </a:r>
            <a:r>
              <a:rPr lang="en-US" sz="1650" b="0" dirty="0">
                <a:solidFill>
                  <a:srgbClr val="F4EEE2"/>
                </a:solidFill>
                <a:latin typeface="Arial"/>
                <a:ea typeface="Arial"/>
                <a:cs typeface="Arial"/>
              </a:rPr>
              <a:t>a</a:t>
            </a:r>
            <a:r>
              <a:rPr sz="1650" b="0" dirty="0">
                <a:solidFill>
                  <a:srgbClr val="F4EEE2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650" b="0" dirty="0">
                <a:solidFill>
                  <a:srgbClr val="F4EEE2"/>
                </a:solidFill>
                <a:latin typeface="Arial"/>
                <a:ea typeface="Arial"/>
                <a:cs typeface="Arial"/>
              </a:rPr>
              <a:t>smart contract</a:t>
            </a:r>
            <a:r>
              <a:rPr sz="1650" b="0" dirty="0">
                <a:solidFill>
                  <a:srgbClr val="F4EEE2"/>
                </a:solidFill>
                <a:latin typeface="Arial"/>
                <a:ea typeface="Arial"/>
                <a:cs typeface="Arial"/>
              </a:rPr>
              <a:t> around a real-world condition.</a:t>
            </a:r>
          </a:p>
          <a:p>
            <a:pPr>
              <a:defRPr sz="1650" b="0">
                <a:solidFill>
                  <a:srgbClr val="F4EEE2"/>
                </a:solidFill>
                <a:latin typeface="Arial"/>
                <a:ea typeface="Arial"/>
                <a:cs typeface="Arial"/>
              </a:defRPr>
            </a:pPr>
            <a:r>
              <a:rPr sz="1650" b="0" dirty="0" err="1">
                <a:solidFill>
                  <a:srgbClr val="F4EEE2"/>
                </a:solidFill>
                <a:latin typeface="Arial"/>
                <a:ea typeface="Arial"/>
                <a:cs typeface="Arial"/>
              </a:rPr>
              <a:t>SOLstice</a:t>
            </a:r>
            <a:r>
              <a:rPr sz="1650" b="0" dirty="0">
                <a:solidFill>
                  <a:srgbClr val="F4EEE2"/>
                </a:solidFill>
                <a:latin typeface="Arial"/>
                <a:ea typeface="Arial"/>
                <a:cs typeface="Arial"/>
              </a:rPr>
              <a:t> delivers a verified result that a Solana </a:t>
            </a:r>
            <a:r>
              <a:rPr lang="en-US" sz="1650" b="0" dirty="0">
                <a:solidFill>
                  <a:srgbClr val="F4EEE2"/>
                </a:solidFill>
                <a:latin typeface="Arial"/>
                <a:ea typeface="Arial"/>
                <a:cs typeface="Arial"/>
              </a:rPr>
              <a:t>smart contract</a:t>
            </a:r>
            <a:r>
              <a:rPr sz="1650" b="0" dirty="0">
                <a:solidFill>
                  <a:srgbClr val="F4EEE2"/>
                </a:solidFill>
                <a:latin typeface="Arial"/>
                <a:ea typeface="Arial"/>
                <a:cs typeface="Arial"/>
              </a:rPr>
              <a:t> can enforce.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06FADC-426F-42D6-AF9B-F4020C5F786A}"/>
              </a:ext>
            </a:extLst>
          </p:cNvPr>
          <p:cNvSpPr>
            <a:spLocks noGrp="1"/>
          </p:cNvSpPr>
          <p:nvPr/>
        </p:nvSpPr>
        <p:spPr>
          <a:xfrm>
            <a:off x="685800" y="50768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722" lnSpcReduction="10000"/>
          </a:bodyPr>
          <a:lstStyle/>
          <a:p>
            <a:pPr>
              <a:def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rPr>
              <a:t>Ashwin Shrivastav, Akhil Swaminathan</a:t>
            </a:r>
          </a:p>
          <a:p>
            <a:pPr>
              <a:def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rPr>
              <a:t>Sudeep Gowda, Joshua Asirvatham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2D7341-1FEC-44D0-8361-566C4C0C82EE}"/>
              </a:ext>
            </a:extLst>
          </p:cNvPr>
          <p:cNvSpPr>
            <a:spLocks noGrp="1"/>
          </p:cNvSpPr>
          <p:nvPr/>
        </p:nvSpPr>
        <p:spPr>
          <a:xfrm>
            <a:off x="10287000" y="5848350"/>
            <a:ext cx="1238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5833" lnSpcReduction="10000"/>
          </a:bodyPr>
          <a:lstStyle/>
          <a:p>
            <a:pPr>
              <a:defRPr sz="900" b="1">
                <a:solidFill>
                  <a:srgbClr val="C2C9D3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C2C9D3"/>
                </a:solidFill>
                <a:latin typeface="Courier New"/>
                <a:ea typeface="Courier New"/>
                <a:cs typeface="Courier New"/>
              </a:rPr>
              <a:t>MHACKS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2D5B735-DFEE-43BD-BA3F-C530B84A00C9}"/>
              </a:ext>
            </a:extLst>
          </p:cNvPr>
          <p:cNvSpPr>
            <a:spLocks noGrp="1"/>
          </p:cNvSpPr>
          <p:nvPr/>
        </p:nvSpPr>
        <p:spPr>
          <a:xfrm>
            <a:off x="5619750" y="1562100"/>
            <a:ext cx="5505450" cy="3314700"/>
          </a:xfrm>
          <a:prstGeom prst="roundRect">
            <a:avLst>
              <a:gd name="adj" fmla="val 4023"/>
            </a:avLst>
          </a:prstGeom>
          <a:solidFill>
            <a:srgbClr val="091118"/>
          </a:solidFill>
          <a:ln w="9525">
            <a:solidFill>
              <a:srgbClr val="3D4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ABEFA5-9116-4FB9-8D4A-7C3A130317A3}"/>
              </a:ext>
            </a:extLst>
          </p:cNvPr>
          <p:cNvSpPr>
            <a:spLocks noGrp="1"/>
          </p:cNvSpPr>
          <p:nvPr/>
        </p:nvSpPr>
        <p:spPr>
          <a:xfrm>
            <a:off x="5962650" y="1876425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5833" lnSpcReduction="10000"/>
          </a:bodyPr>
          <a:lstStyle/>
          <a:p>
            <a:pPr>
              <a:defRPr sz="900" b="1">
                <a:solidFill>
                  <a:srgbClr val="C2C9D3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C2C9D3"/>
                </a:solidFill>
                <a:latin typeface="Courier New"/>
                <a:ea typeface="Courier New"/>
                <a:cs typeface="Courier New"/>
              </a:rPr>
              <a:t>CONDITION EXECUTION LAYER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5BB76B-F4F9-4C31-AC67-BFC4AD541125}"/>
              </a:ext>
            </a:extLst>
          </p:cNvPr>
          <p:cNvSpPr>
            <a:spLocks noGrp="1"/>
          </p:cNvSpPr>
          <p:nvPr/>
        </p:nvSpPr>
        <p:spPr>
          <a:xfrm>
            <a:off x="5962650" y="226695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65" lnSpcReduction="20000"/>
          </a:bodyPr>
          <a:lstStyle/>
          <a:p>
            <a:pPr>
              <a:defRPr sz="202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“Release escrow when</a:t>
            </a:r>
          </a:p>
          <a:p>
            <a:pPr>
              <a:defRPr sz="202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the condition is verified.”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5D16E1-524B-4AD3-82E7-B21B8A970FFB}"/>
              </a:ext>
            </a:extLst>
          </p:cNvPr>
          <p:cNvSpPr>
            <a:spLocks noGrp="1"/>
          </p:cNvSpPr>
          <p:nvPr/>
        </p:nvSpPr>
        <p:spPr>
          <a:xfrm>
            <a:off x="5962650" y="3171825"/>
            <a:ext cx="4762500" cy="9525"/>
          </a:xfrm>
          <a:prstGeom prst="rect">
            <a:avLst/>
          </a:prstGeom>
          <a:solidFill>
            <a:srgbClr val="3D4A5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1EE42B-9637-46E1-B141-565B24B70C76}"/>
              </a:ext>
            </a:extLst>
          </p:cNvPr>
          <p:cNvSpPr>
            <a:spLocks noGrp="1"/>
          </p:cNvSpPr>
          <p:nvPr/>
        </p:nvSpPr>
        <p:spPr>
          <a:xfrm>
            <a:off x="5962650" y="34099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5833" lnSpcReduction="10000"/>
          </a:bodyPr>
          <a:lstStyle/>
          <a:p>
            <a:pPr>
              <a:defRPr sz="900" b="1">
                <a:solidFill>
                  <a:srgbClr val="8190A1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8190A1"/>
                </a:solidFill>
                <a:latin typeface="Courier New"/>
                <a:ea typeface="Courier New"/>
                <a:cs typeface="Courier New"/>
              </a:rPr>
              <a:t>VERIFIER RESULT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B44A53-197F-414C-A224-469DA8E8B3E6}"/>
              </a:ext>
            </a:extLst>
          </p:cNvPr>
          <p:cNvSpPr>
            <a:spLocks noGrp="1"/>
          </p:cNvSpPr>
          <p:nvPr/>
        </p:nvSpPr>
        <p:spPr>
          <a:xfrm>
            <a:off x="5962650" y="3648075"/>
            <a:ext cx="2571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00" lnSpcReduction="10000"/>
          </a:bodyPr>
          <a:lstStyle/>
          <a:p>
            <a:pPr>
              <a:defRPr sz="1500" b="1">
                <a:solidFill>
                  <a:srgbClr val="D6E34D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D6E34D"/>
                </a:solidFill>
                <a:latin typeface="Courier New"/>
                <a:ea typeface="Courier New"/>
                <a:cs typeface="Courier New"/>
              </a:rPr>
              <a:t>condition_result = true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BE96A748-868D-4239-8FB4-E0A2B389ED0F}"/>
              </a:ext>
            </a:extLst>
          </p:cNvPr>
          <p:cNvSpPr>
            <a:spLocks noGrp="1"/>
          </p:cNvSpPr>
          <p:nvPr/>
        </p:nvSpPr>
        <p:spPr>
          <a:xfrm>
            <a:off x="8543925" y="3714750"/>
            <a:ext cx="609600" cy="133350"/>
          </a:xfrm>
          <a:prstGeom prst="rightArrow">
            <a:avLst/>
          </a:prstGeom>
          <a:solidFill>
            <a:srgbClr val="D6E3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6F8538-2B9A-4133-B45B-852F66016F4F}"/>
              </a:ext>
            </a:extLst>
          </p:cNvPr>
          <p:cNvSpPr>
            <a:spLocks noGrp="1"/>
          </p:cNvSpPr>
          <p:nvPr/>
        </p:nvSpPr>
        <p:spPr>
          <a:xfrm>
            <a:off x="9353550" y="3409950"/>
            <a:ext cx="14287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5833" lnSpcReduction="10000"/>
          </a:bodyPr>
          <a:lstStyle/>
          <a:p>
            <a:pPr>
              <a:defRPr sz="900" b="1">
                <a:solidFill>
                  <a:srgbClr val="8190A1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8190A1"/>
                </a:solidFill>
                <a:latin typeface="Courier New"/>
                <a:ea typeface="Courier New"/>
                <a:cs typeface="Courier New"/>
              </a:rPr>
              <a:t>SOLANA PROGRAM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5AAF78-2223-4EB4-A103-258000391834}"/>
              </a:ext>
            </a:extLst>
          </p:cNvPr>
          <p:cNvSpPr>
            <a:spLocks noGrp="1"/>
          </p:cNvSpPr>
          <p:nvPr/>
        </p:nvSpPr>
        <p:spPr>
          <a:xfrm>
            <a:off x="9239250" y="3648075"/>
            <a:ext cx="17621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release_escrow()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49F6CD-6AB6-4A1A-86D6-5C2A0BD7665C}"/>
              </a:ext>
            </a:extLst>
          </p:cNvPr>
          <p:cNvSpPr>
            <a:spLocks noGrp="1"/>
          </p:cNvSpPr>
          <p:nvPr/>
        </p:nvSpPr>
        <p:spPr>
          <a:xfrm>
            <a:off x="5962650" y="4210050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875" lnSpcReduction="10000"/>
          </a:bodyPr>
          <a:lstStyle/>
          <a:p>
            <a:pPr>
              <a:defRPr sz="120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A verified condition becomes an on-chain fact.</a:t>
            </a:r>
          </a:p>
          <a:p>
            <a:pPr>
              <a:defRPr sz="120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The contract handles the settlement.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9CE828-7808-4439-A7E9-D5C5B28EFFCB}"/>
              </a:ext>
            </a:extLst>
          </p:cNvPr>
          <p:cNvSpPr>
            <a:spLocks noGrp="1"/>
          </p:cNvSpPr>
          <p:nvPr/>
        </p:nvSpPr>
        <p:spPr>
          <a:xfrm>
            <a:off x="647700" y="6191250"/>
            <a:ext cx="10896600" cy="9525"/>
          </a:xfrm>
          <a:prstGeom prst="rect">
            <a:avLst/>
          </a:prstGeom>
          <a:solidFill>
            <a:srgbClr val="3D4A5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B7C79E-C1FE-4424-99E3-1AC8E801E7BE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6667" lnSpcReduction="10000"/>
          </a:bodyPr>
          <a:lstStyle/>
          <a:p>
            <a:pPr>
              <a:defRPr sz="975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1EEFEC-28CF-4348-8BB7-9C1F7E102B1E}"/>
              </a:ext>
            </a:extLst>
          </p:cNvPr>
          <p:cNvSpPr>
            <a:spLocks noGrp="1"/>
          </p:cNvSpPr>
          <p:nvPr/>
        </p:nvSpPr>
        <p:spPr>
          <a:xfrm>
            <a:off x="1143000" y="6362700"/>
            <a:ext cx="6858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722" lnSpcReduction="10000"/>
          </a:bodyPr>
          <a:lstStyle/>
          <a:p>
            <a:pPr>
              <a:def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rPr>
              <a:t>SOLstice / 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761819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186496C-3BB6-419D-A866-FA141C3F59F2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3714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>
              <a:defRPr sz="1050" b="1">
                <a:solidFill>
                  <a:srgbClr val="D6E34D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D6E34D"/>
                </a:solidFill>
                <a:latin typeface="Courier New"/>
                <a:ea typeface="Courier New"/>
                <a:cs typeface="Courier New"/>
              </a:rPr>
              <a:t>02 / EXECUTION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8DA3F5-11EF-49AF-B339-934A583A6117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7239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927" lnSpcReduction="10000"/>
          </a:bodyPr>
          <a:lstStyle/>
          <a:p>
            <a:pPr>
              <a:defRPr sz="3450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How a Solana program executes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7225D2-3DC9-4E3F-8E3C-5CD7344193EE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8286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812" lnSpcReduction="10000"/>
          </a:bodyPr>
          <a:lstStyle/>
          <a:p>
            <a:pPr>
              <a:defRPr sz="1575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A transaction calls the program. The program reads the supplied on-chain accounts and decides what state can change.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EBB023-A2B8-491F-AB0F-E0923671F610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2857500" cy="1809750"/>
          </a:xfrm>
          <a:prstGeom prst="rect">
            <a:avLst/>
          </a:prstGeom>
          <a:solidFill>
            <a:srgbClr val="F4EEE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A16856-B908-4C4D-BC91-91AA3E44541F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95250" cy="1809750"/>
          </a:xfrm>
          <a:prstGeom prst="rect">
            <a:avLst/>
          </a:prstGeom>
          <a:solidFill>
            <a:srgbClr val="FF55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A18B56-E3A3-45B1-BE70-7529D1F415DB}"/>
              </a:ext>
            </a:extLst>
          </p:cNvPr>
          <p:cNvSpPr>
            <a:spLocks noGrp="1"/>
          </p:cNvSpPr>
          <p:nvPr/>
        </p:nvSpPr>
        <p:spPr>
          <a:xfrm>
            <a:off x="1028700" y="3009900"/>
            <a:ext cx="18097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5833" lnSpcReduction="10000"/>
          </a:bodyPr>
          <a:lstStyle/>
          <a:p>
            <a:pPr>
              <a:defRPr sz="900" b="1">
                <a:solidFill>
                  <a:srgbClr val="2D62D4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2D62D4"/>
                </a:solidFill>
                <a:latin typeface="Courier New"/>
                <a:ea typeface="Courier New"/>
                <a:cs typeface="Courier New"/>
              </a:rPr>
              <a:t>TRANSACTION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F8E8F5-C520-4D39-A53A-1A00AB1E536B}"/>
              </a:ext>
            </a:extLst>
          </p:cNvPr>
          <p:cNvSpPr>
            <a:spLocks noGrp="1"/>
          </p:cNvSpPr>
          <p:nvPr/>
        </p:nvSpPr>
        <p:spPr>
          <a:xfrm>
            <a:off x="1028700" y="337185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659" lnSpcReduction="10000"/>
          </a:bodyPr>
          <a:lstStyle/>
          <a:p>
            <a:pPr>
              <a:defRPr sz="1725" b="1">
                <a:solidFill>
                  <a:srgbClr val="0C1720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0C1720"/>
                </a:solidFill>
                <a:latin typeface="Courier New"/>
                <a:ea typeface="Courier New"/>
                <a:cs typeface="Courier New"/>
              </a:rPr>
              <a:t>release_escrow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0C9581-63AD-4FC4-8C06-9A6F57267B96}"/>
              </a:ext>
            </a:extLst>
          </p:cNvPr>
          <p:cNvSpPr>
            <a:spLocks noGrp="1"/>
          </p:cNvSpPr>
          <p:nvPr/>
        </p:nvSpPr>
        <p:spPr>
          <a:xfrm>
            <a:off x="1028700" y="3829050"/>
            <a:ext cx="2095500" cy="9525"/>
          </a:xfrm>
          <a:prstGeom prst="rect">
            <a:avLst/>
          </a:prstGeom>
          <a:solidFill>
            <a:srgbClr val="B9B3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972240-464B-4A22-93ED-FAAEF0B062B3}"/>
              </a:ext>
            </a:extLst>
          </p:cNvPr>
          <p:cNvSpPr>
            <a:spLocks noGrp="1"/>
          </p:cNvSpPr>
          <p:nvPr/>
        </p:nvSpPr>
        <p:spPr>
          <a:xfrm>
            <a:off x="1028700" y="3990975"/>
            <a:ext cx="2095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377" lnSpcReduction="10000"/>
          </a:bodyPr>
          <a:lstStyle/>
          <a:p>
            <a:pPr>
              <a:defRPr sz="1125" b="0">
                <a:solidFill>
                  <a:srgbClr val="0C1720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0C1720"/>
                </a:solidFill>
                <a:latin typeface="Arial"/>
                <a:ea typeface="Arial"/>
                <a:cs typeface="Arial"/>
              </a:rPr>
              <a:t>Instruction plus</a:t>
            </a:r>
          </a:p>
          <a:p>
            <a:pPr>
              <a:defRPr sz="1125" b="0">
                <a:solidFill>
                  <a:srgbClr val="0C1720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0C1720"/>
                </a:solidFill>
                <a:latin typeface="Arial"/>
                <a:ea typeface="Arial"/>
                <a:cs typeface="Arial"/>
              </a:rPr>
              <a:t>the accounts it can read or change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E4AA2623-BF84-4AA3-95F3-8669DE25CF5D}"/>
              </a:ext>
            </a:extLst>
          </p:cNvPr>
          <p:cNvSpPr>
            <a:spLocks noGrp="1"/>
          </p:cNvSpPr>
          <p:nvPr/>
        </p:nvSpPr>
        <p:spPr>
          <a:xfrm>
            <a:off x="3943350" y="3581400"/>
            <a:ext cx="838200" cy="133350"/>
          </a:xfrm>
          <a:prstGeom prst="rightArrow">
            <a:avLst/>
          </a:prstGeom>
          <a:solidFill>
            <a:srgbClr val="D6E3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7CA52A-0F2A-4B5E-9A73-9DD5A37622CC}"/>
              </a:ext>
            </a:extLst>
          </p:cNvPr>
          <p:cNvSpPr>
            <a:spLocks noGrp="1"/>
          </p:cNvSpPr>
          <p:nvPr/>
        </p:nvSpPr>
        <p:spPr>
          <a:xfrm>
            <a:off x="5162550" y="2724150"/>
            <a:ext cx="2533650" cy="1809750"/>
          </a:xfrm>
          <a:prstGeom prst="rect">
            <a:avLst/>
          </a:prstGeom>
          <a:solidFill>
            <a:srgbClr val="2D62D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B0C3CD-D5C0-4054-87F2-2C5D9CB92105}"/>
              </a:ext>
            </a:extLst>
          </p:cNvPr>
          <p:cNvSpPr>
            <a:spLocks noGrp="1"/>
          </p:cNvSpPr>
          <p:nvPr/>
        </p:nvSpPr>
        <p:spPr>
          <a:xfrm>
            <a:off x="5448300" y="300990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5833" lnSpcReduction="10000"/>
          </a:bodyPr>
          <a:lstStyle/>
          <a:p>
            <a:pPr>
              <a:defRPr sz="900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PROGRAM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C00DD5-2867-4BFE-A492-04027821B0E7}"/>
              </a:ext>
            </a:extLst>
          </p:cNvPr>
          <p:cNvSpPr>
            <a:spLocks noGrp="1"/>
          </p:cNvSpPr>
          <p:nvPr/>
        </p:nvSpPr>
        <p:spPr>
          <a:xfrm>
            <a:off x="5448300" y="3362325"/>
            <a:ext cx="195262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183" lnSpcReduction="10000"/>
          </a:bodyPr>
          <a:lstStyle/>
          <a:p>
            <a:pPr algn="ctr">
              <a:defRPr sz="232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Checks the</a:t>
            </a:r>
          </a:p>
          <a:p>
            <a:pPr algn="ctr">
              <a:defRPr sz="232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rule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3BEDA1-6848-4826-9A0B-CCC0C9A85849}"/>
              </a:ext>
            </a:extLst>
          </p:cNvPr>
          <p:cNvSpPr>
            <a:spLocks noGrp="1"/>
          </p:cNvSpPr>
          <p:nvPr/>
        </p:nvSpPr>
        <p:spPr>
          <a:xfrm>
            <a:off x="5448300" y="4133850"/>
            <a:ext cx="1952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 lnSpcReduction="10000"/>
          </a:bodyPr>
          <a:lstStyle/>
          <a:p>
            <a:pPr algn="ctr">
              <a:defRPr sz="1050" b="0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on-chain logic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95518469-DE1B-4076-A295-CBC639896777}"/>
              </a:ext>
            </a:extLst>
          </p:cNvPr>
          <p:cNvSpPr>
            <a:spLocks noGrp="1"/>
          </p:cNvSpPr>
          <p:nvPr/>
        </p:nvSpPr>
        <p:spPr>
          <a:xfrm>
            <a:off x="8058150" y="3581400"/>
            <a:ext cx="838200" cy="133350"/>
          </a:xfrm>
          <a:prstGeom prst="rightArrow">
            <a:avLst/>
          </a:prstGeom>
          <a:solidFill>
            <a:srgbClr val="D6E3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85CEA1-D13A-4646-B1CE-7A9207B188A2}"/>
              </a:ext>
            </a:extLst>
          </p:cNvPr>
          <p:cNvSpPr>
            <a:spLocks noGrp="1"/>
          </p:cNvSpPr>
          <p:nvPr/>
        </p:nvSpPr>
        <p:spPr>
          <a:xfrm>
            <a:off x="9239250" y="3000375"/>
            <a:ext cx="18097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5833" lnSpcReduction="10000"/>
          </a:bodyPr>
          <a:lstStyle/>
          <a:p>
            <a:pPr>
              <a:defRPr sz="900" b="1">
                <a:solidFill>
                  <a:srgbClr val="D6E34D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D6E34D"/>
                </a:solidFill>
                <a:latin typeface="Courier New"/>
                <a:ea typeface="Courier New"/>
                <a:cs typeface="Courier New"/>
              </a:rPr>
              <a:t>ON-CHAIN STATE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5F049B-F911-4EE2-93EE-9DE04015567E}"/>
              </a:ext>
            </a:extLst>
          </p:cNvPr>
          <p:cNvSpPr>
            <a:spLocks noGrp="1"/>
          </p:cNvSpPr>
          <p:nvPr/>
        </p:nvSpPr>
        <p:spPr>
          <a:xfrm>
            <a:off x="9239250" y="3381375"/>
            <a:ext cx="2095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8426" lnSpcReduction="10000"/>
          </a:bodyPr>
          <a:lstStyle/>
          <a:p>
            <a:pPr>
              <a:defRPr sz="21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Release SOL</a:t>
            </a:r>
          </a:p>
          <a:p>
            <a:pPr>
              <a:defRPr sz="21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or keep escrow locked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5570A0-6E13-461C-90A5-3C05775AC63E}"/>
              </a:ext>
            </a:extLst>
          </p:cNvPr>
          <p:cNvSpPr>
            <a:spLocks noGrp="1"/>
          </p:cNvSpPr>
          <p:nvPr/>
        </p:nvSpPr>
        <p:spPr>
          <a:xfrm>
            <a:off x="723900" y="5219700"/>
            <a:ext cx="10782300" cy="9525"/>
          </a:xfrm>
          <a:prstGeom prst="rect">
            <a:avLst/>
          </a:prstGeom>
          <a:solidFill>
            <a:srgbClr val="3D4A5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D52AD6-17A9-456B-A933-E484FA6CF616}"/>
              </a:ext>
            </a:extLst>
          </p:cNvPr>
          <p:cNvSpPr>
            <a:spLocks noGrp="1"/>
          </p:cNvSpPr>
          <p:nvPr/>
        </p:nvSpPr>
        <p:spPr>
          <a:xfrm>
            <a:off x="723900" y="5476875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5833" lnSpcReduction="10000"/>
          </a:bodyPr>
          <a:lstStyle/>
          <a:p>
            <a:pPr>
              <a:defRPr sz="900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WHAT SITS OUTSIDE THE TRANSACTION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62FC4D-2624-49D9-A582-7DE5C5B60755}"/>
              </a:ext>
            </a:extLst>
          </p:cNvPr>
          <p:cNvSpPr>
            <a:spLocks noGrp="1"/>
          </p:cNvSpPr>
          <p:nvPr/>
        </p:nvSpPr>
        <p:spPr>
          <a:xfrm>
            <a:off x="723900" y="5724525"/>
            <a:ext cx="8858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426" lnSpcReduction="10000"/>
          </a:bodyPr>
          <a:lstStyle/>
          <a:p>
            <a:pPr>
              <a:defRPr sz="1350" b="0">
                <a:solidFill>
                  <a:srgbClr val="F4EE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EEE2"/>
                </a:solidFill>
                <a:latin typeface="Arial"/>
                <a:ea typeface="Arial"/>
                <a:cs typeface="Arial"/>
              </a:rPr>
              <a:t>News, delivery status, documents, and other real-world facts need a trusted path into the program.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108EE1-1CF9-404A-824B-98D1BBAC689B}"/>
              </a:ext>
            </a:extLst>
          </p:cNvPr>
          <p:cNvSpPr>
            <a:spLocks noGrp="1"/>
          </p:cNvSpPr>
          <p:nvPr/>
        </p:nvSpPr>
        <p:spPr>
          <a:xfrm>
            <a:off x="647700" y="6191250"/>
            <a:ext cx="10896600" cy="9525"/>
          </a:xfrm>
          <a:prstGeom prst="rect">
            <a:avLst/>
          </a:prstGeom>
          <a:solidFill>
            <a:srgbClr val="3D4A5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FB4725-78C3-46DF-AA10-4B0802C94F0B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6667" lnSpcReduction="10000"/>
          </a:bodyPr>
          <a:lstStyle/>
          <a:p>
            <a:pPr>
              <a:defRPr sz="975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AFFFE31-173B-4B24-B43F-B4249DFFC859}"/>
              </a:ext>
            </a:extLst>
          </p:cNvPr>
          <p:cNvSpPr>
            <a:spLocks noGrp="1"/>
          </p:cNvSpPr>
          <p:nvPr/>
        </p:nvSpPr>
        <p:spPr>
          <a:xfrm>
            <a:off x="1143000" y="6362700"/>
            <a:ext cx="6858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722" lnSpcReduction="10000"/>
          </a:bodyPr>
          <a:lstStyle/>
          <a:p>
            <a:pPr>
              <a:def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rPr>
              <a:t>SOLstice / EXECUTION MODEL</a:t>
            </a:r>
          </a:p>
        </p:txBody>
      </p:sp>
    </p:spTree>
    <p:extLst>
      <p:ext uri="{BB962C8B-B14F-4D97-AF65-F5344CB8AC3E}">
        <p14:creationId xmlns:p14="http://schemas.microsoft.com/office/powerpoint/2010/main" val="1608967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3650A00-2067-4223-A08F-6E4A828C831F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3714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>
              <a:defRPr sz="1050" b="1">
                <a:solidFill>
                  <a:srgbClr val="2D62D4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D62D4"/>
                </a:solidFill>
                <a:latin typeface="Courier New"/>
                <a:ea typeface="Courier New"/>
                <a:cs typeface="Courier New"/>
              </a:rPr>
              <a:t>03 / THE SOLSTICE LAYER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4CAEAA-5B28-48A7-AC08-BB151C1D71EE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709612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653" lnSpcReduction="10000"/>
          </a:bodyPr>
          <a:lstStyle/>
          <a:p>
            <a:pPr>
              <a:defRPr sz="3600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External conditions,</a:t>
            </a:r>
          </a:p>
          <a:p>
            <a:pPr>
              <a:defRPr sz="3600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on-chain enforcement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32917A-C574-45B2-B38D-1BEB68A3F2DA}"/>
              </a:ext>
            </a:extLst>
          </p:cNvPr>
          <p:cNvSpPr>
            <a:spLocks noGrp="1"/>
          </p:cNvSpPr>
          <p:nvPr/>
        </p:nvSpPr>
        <p:spPr>
          <a:xfrm>
            <a:off x="742950" y="2181225"/>
            <a:ext cx="9048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825"/>
          </a:bodyPr>
          <a:lstStyle/>
          <a:p>
            <a:pPr>
              <a:defRPr sz="1575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SOLstice turns a condition outside Solana into a result the program can enforce.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153F4B-44B6-477B-86E4-E9E36E2EBF30}"/>
              </a:ext>
            </a:extLst>
          </p:cNvPr>
          <p:cNvSpPr>
            <a:spLocks noGrp="1"/>
          </p:cNvSpPr>
          <p:nvPr/>
        </p:nvSpPr>
        <p:spPr>
          <a:xfrm>
            <a:off x="1066800" y="4010025"/>
            <a:ext cx="9944100" cy="19050"/>
          </a:xfrm>
          <a:prstGeom prst="rect">
            <a:avLst/>
          </a:prstGeom>
          <a:solidFill>
            <a:srgbClr val="3D4A5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516B906-36F7-4731-AE0F-755EECB86D06}"/>
              </a:ext>
            </a:extLst>
          </p:cNvPr>
          <p:cNvSpPr>
            <a:spLocks noGrp="1"/>
          </p:cNvSpPr>
          <p:nvPr/>
        </p:nvSpPr>
        <p:spPr>
          <a:xfrm>
            <a:off x="1066800" y="3895725"/>
            <a:ext cx="228600" cy="228600"/>
          </a:xfrm>
          <a:prstGeom prst="ellipse">
            <a:avLst/>
          </a:prstGeom>
          <a:solidFill>
            <a:srgbClr val="FF55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CB4234-D1D1-458F-998E-6EAE95E90C32}"/>
              </a:ext>
            </a:extLst>
          </p:cNvPr>
          <p:cNvSpPr>
            <a:spLocks noGrp="1"/>
          </p:cNvSpPr>
          <p:nvPr/>
        </p:nvSpPr>
        <p:spPr>
          <a:xfrm>
            <a:off x="990600" y="2857500"/>
            <a:ext cx="2000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5833" lnSpcReduction="20000"/>
          </a:bodyPr>
          <a:lstStyle/>
          <a:p>
            <a:pPr>
              <a:defRPr sz="900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CONDITION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84D997-5382-4A0F-8C9E-A7FE70EA40CF}"/>
              </a:ext>
            </a:extLst>
          </p:cNvPr>
          <p:cNvSpPr>
            <a:spLocks noGrp="1"/>
          </p:cNvSpPr>
          <p:nvPr/>
        </p:nvSpPr>
        <p:spPr>
          <a:xfrm>
            <a:off x="990600" y="3076575"/>
            <a:ext cx="20478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095" lnSpcReduction="10000"/>
          </a:bodyPr>
          <a:lstStyle/>
          <a:p>
            <a:pPr>
              <a:defRPr sz="15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A milestone</a:t>
            </a:r>
          </a:p>
          <a:p>
            <a:pPr>
              <a:defRPr sz="15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needs proof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AA34E0-E48F-4D1C-8CC3-C614EA833D45}"/>
              </a:ext>
            </a:extLst>
          </p:cNvPr>
          <p:cNvSpPr>
            <a:spLocks noGrp="1"/>
          </p:cNvSpPr>
          <p:nvPr/>
        </p:nvSpPr>
        <p:spPr>
          <a:xfrm>
            <a:off x="1152525" y="352281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428"/>
          </a:bodyPr>
          <a:lstStyle/>
          <a:p>
            <a:pPr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C2C9D3"/>
                </a:solidFill>
                <a:latin typeface="Arial"/>
                <a:ea typeface="Arial"/>
                <a:cs typeface="Arial"/>
              </a:rPr>
              <a:t>The user defines</a:t>
            </a:r>
          </a:p>
          <a:p>
            <a:pPr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C2C9D3"/>
                </a:solidFill>
                <a:latin typeface="Arial"/>
                <a:ea typeface="Arial"/>
                <a:cs typeface="Arial"/>
              </a:rPr>
              <a:t>what must be true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48CDCE51-13FB-456F-A11D-E14B0B9EAD94}"/>
              </a:ext>
            </a:extLst>
          </p:cNvPr>
          <p:cNvSpPr>
            <a:spLocks noGrp="1"/>
          </p:cNvSpPr>
          <p:nvPr/>
        </p:nvSpPr>
        <p:spPr>
          <a:xfrm>
            <a:off x="1371600" y="3962400"/>
            <a:ext cx="1847850" cy="133350"/>
          </a:xfrm>
          <a:prstGeom prst="rightArrow">
            <a:avLst/>
          </a:prstGeom>
          <a:solidFill>
            <a:srgbClr val="3D4A5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8EC0CC8-7A3A-4BA5-A829-F55DB6447F7F}"/>
              </a:ext>
            </a:extLst>
          </p:cNvPr>
          <p:cNvSpPr>
            <a:spLocks noGrp="1"/>
          </p:cNvSpPr>
          <p:nvPr/>
        </p:nvSpPr>
        <p:spPr>
          <a:xfrm>
            <a:off x="3714750" y="3895725"/>
            <a:ext cx="228600" cy="228600"/>
          </a:xfrm>
          <a:prstGeom prst="ellipse">
            <a:avLst/>
          </a:prstGeom>
          <a:solidFill>
            <a:srgbClr val="2D62D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7C21CA-9CD6-4F76-89FD-F9AFE159CEFD}"/>
              </a:ext>
            </a:extLst>
          </p:cNvPr>
          <p:cNvSpPr>
            <a:spLocks noGrp="1"/>
          </p:cNvSpPr>
          <p:nvPr/>
        </p:nvSpPr>
        <p:spPr>
          <a:xfrm>
            <a:off x="3638550" y="4286250"/>
            <a:ext cx="2000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5833" lnSpcReduction="20000"/>
          </a:bodyPr>
          <a:lstStyle/>
          <a:p>
            <a:pPr>
              <a:defRPr sz="900" b="1">
                <a:solidFill>
                  <a:srgbClr val="2D62D4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2D62D4"/>
                </a:solidFill>
                <a:latin typeface="Courier New"/>
                <a:ea typeface="Courier New"/>
                <a:cs typeface="Courier New"/>
              </a:rPr>
              <a:t>VERIFICATION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A54A33-10E8-41F9-9532-18EA6090C6CF}"/>
              </a:ext>
            </a:extLst>
          </p:cNvPr>
          <p:cNvSpPr>
            <a:spLocks noGrp="1"/>
          </p:cNvSpPr>
          <p:nvPr/>
        </p:nvSpPr>
        <p:spPr>
          <a:xfrm>
            <a:off x="3638550" y="4505325"/>
            <a:ext cx="20478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095" lnSpcReduction="10000"/>
          </a:bodyPr>
          <a:lstStyle/>
          <a:p>
            <a:pPr>
              <a:defRPr sz="15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1575" b="1" dirty="0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Evidence supports</a:t>
            </a:r>
          </a:p>
          <a:p>
            <a:pPr>
              <a:defRPr sz="15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1575" b="1" dirty="0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the condition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40D8D3-DB6D-4C38-BB6C-07C7672CABB9}"/>
              </a:ext>
            </a:extLst>
          </p:cNvPr>
          <p:cNvSpPr>
            <a:spLocks noGrp="1"/>
          </p:cNvSpPr>
          <p:nvPr/>
        </p:nvSpPr>
        <p:spPr>
          <a:xfrm>
            <a:off x="3638550" y="5067300"/>
            <a:ext cx="180532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428"/>
          </a:bodyPr>
          <a:lstStyle/>
          <a:p>
            <a:pPr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900" b="0" dirty="0" err="1">
                <a:solidFill>
                  <a:srgbClr val="C2C9D3"/>
                </a:solidFill>
                <a:latin typeface="Arial"/>
                <a:ea typeface="Arial"/>
                <a:cs typeface="Arial"/>
              </a:rPr>
              <a:t>SOLstice</a:t>
            </a:r>
            <a:r>
              <a:rPr sz="900" b="0" dirty="0">
                <a:solidFill>
                  <a:srgbClr val="C2C9D3"/>
                </a:solidFill>
                <a:latin typeface="Arial"/>
                <a:ea typeface="Arial"/>
                <a:cs typeface="Arial"/>
              </a:rPr>
              <a:t> checks</a:t>
            </a:r>
          </a:p>
          <a:p>
            <a:pPr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900" b="0" dirty="0">
                <a:solidFill>
                  <a:srgbClr val="C2C9D3"/>
                </a:solidFill>
                <a:latin typeface="Arial"/>
                <a:ea typeface="Arial"/>
                <a:cs typeface="Arial"/>
              </a:rPr>
              <a:t>the available evidence</a:t>
            </a:r>
            <a:r>
              <a:rPr lang="en-US" sz="900" b="0" dirty="0">
                <a:solidFill>
                  <a:srgbClr val="C2C9D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900" dirty="0">
                <a:solidFill>
                  <a:srgbClr val="C2C9D3"/>
                </a:solidFill>
                <a:latin typeface="Arial"/>
                <a:ea typeface="Arial"/>
                <a:cs typeface="Arial"/>
              </a:rPr>
              <a:t>via external tools</a:t>
            </a:r>
            <a:endParaRPr sz="900" b="0" dirty="0">
              <a:solidFill>
                <a:srgbClr val="C2C9D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48475E6D-3AF7-469C-ABBB-D06F6B73C3F6}"/>
              </a:ext>
            </a:extLst>
          </p:cNvPr>
          <p:cNvSpPr>
            <a:spLocks noGrp="1"/>
          </p:cNvSpPr>
          <p:nvPr/>
        </p:nvSpPr>
        <p:spPr>
          <a:xfrm>
            <a:off x="4019550" y="3962400"/>
            <a:ext cx="1847850" cy="133350"/>
          </a:xfrm>
          <a:prstGeom prst="rightArrow">
            <a:avLst/>
          </a:prstGeom>
          <a:solidFill>
            <a:srgbClr val="3D4A5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AE1D453-B480-463B-A413-F4CC53011A49}"/>
              </a:ext>
            </a:extLst>
          </p:cNvPr>
          <p:cNvSpPr>
            <a:spLocks noGrp="1"/>
          </p:cNvSpPr>
          <p:nvPr/>
        </p:nvSpPr>
        <p:spPr>
          <a:xfrm>
            <a:off x="6362700" y="3895725"/>
            <a:ext cx="228600" cy="228600"/>
          </a:xfrm>
          <a:prstGeom prst="ellipse">
            <a:avLst/>
          </a:prstGeom>
          <a:solidFill>
            <a:srgbClr val="FF55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D57AE1-AB09-4731-9E1B-E57394160B1E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2000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5833" lnSpcReduction="20000"/>
          </a:bodyPr>
          <a:lstStyle/>
          <a:p>
            <a:pPr>
              <a:defRPr sz="900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VERIFIER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0559E2-1F09-4A58-AC76-F9EE060B3CFF}"/>
              </a:ext>
            </a:extLst>
          </p:cNvPr>
          <p:cNvSpPr>
            <a:spLocks noGrp="1"/>
          </p:cNvSpPr>
          <p:nvPr/>
        </p:nvSpPr>
        <p:spPr>
          <a:xfrm>
            <a:off x="6286500" y="3076575"/>
            <a:ext cx="20478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true / false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E0557B-4DF6-4A3A-8539-BAF03AC52BFE}"/>
              </a:ext>
            </a:extLst>
          </p:cNvPr>
          <p:cNvSpPr>
            <a:spLocks noGrp="1"/>
          </p:cNvSpPr>
          <p:nvPr/>
        </p:nvSpPr>
        <p:spPr>
          <a:xfrm>
            <a:off x="6400800" y="352281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428"/>
          </a:bodyPr>
          <a:lstStyle/>
          <a:p>
            <a:pPr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C2C9D3"/>
                </a:solidFill>
                <a:latin typeface="Arial"/>
                <a:ea typeface="Arial"/>
                <a:cs typeface="Arial"/>
              </a:rPr>
              <a:t>The verifier writes</a:t>
            </a:r>
          </a:p>
          <a:p>
            <a:pPr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C2C9D3"/>
                </a:solidFill>
                <a:latin typeface="Arial"/>
                <a:ea typeface="Arial"/>
                <a:cs typeface="Arial"/>
              </a:rPr>
              <a:t>a result it controls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DF1C48B7-ADC1-4F25-A602-68F50923C62C}"/>
              </a:ext>
            </a:extLst>
          </p:cNvPr>
          <p:cNvSpPr>
            <a:spLocks noGrp="1"/>
          </p:cNvSpPr>
          <p:nvPr/>
        </p:nvSpPr>
        <p:spPr>
          <a:xfrm>
            <a:off x="6667500" y="3962400"/>
            <a:ext cx="1847850" cy="133350"/>
          </a:xfrm>
          <a:prstGeom prst="rightArrow">
            <a:avLst/>
          </a:prstGeom>
          <a:solidFill>
            <a:srgbClr val="3D4A5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698FAD0-9464-4A01-A67D-E2B9D1338D60}"/>
              </a:ext>
            </a:extLst>
          </p:cNvPr>
          <p:cNvSpPr>
            <a:spLocks noGrp="1"/>
          </p:cNvSpPr>
          <p:nvPr/>
        </p:nvSpPr>
        <p:spPr>
          <a:xfrm>
            <a:off x="9010650" y="3895725"/>
            <a:ext cx="228600" cy="228600"/>
          </a:xfrm>
          <a:prstGeom prst="ellipse">
            <a:avLst/>
          </a:prstGeom>
          <a:solidFill>
            <a:srgbClr val="D6E3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DF0276-EFFB-4032-81CD-992E488E9F7E}"/>
              </a:ext>
            </a:extLst>
          </p:cNvPr>
          <p:cNvSpPr>
            <a:spLocks noGrp="1"/>
          </p:cNvSpPr>
          <p:nvPr/>
        </p:nvSpPr>
        <p:spPr>
          <a:xfrm>
            <a:off x="8934450" y="4286250"/>
            <a:ext cx="2000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5833" lnSpcReduction="20000"/>
          </a:bodyPr>
          <a:lstStyle/>
          <a:p>
            <a:pPr>
              <a:defRPr sz="900" b="1">
                <a:solidFill>
                  <a:srgbClr val="D6E34D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D6E34D"/>
                </a:solidFill>
                <a:latin typeface="Courier New"/>
                <a:ea typeface="Courier New"/>
                <a:cs typeface="Courier New"/>
              </a:rPr>
              <a:t>PROGRAM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48005B-1C7A-4DA3-A2C3-4E1BED0191C2}"/>
              </a:ext>
            </a:extLst>
          </p:cNvPr>
          <p:cNvSpPr>
            <a:spLocks noGrp="1"/>
          </p:cNvSpPr>
          <p:nvPr/>
        </p:nvSpPr>
        <p:spPr>
          <a:xfrm>
            <a:off x="8934450" y="4505325"/>
            <a:ext cx="20478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095" lnSpcReduction="10000"/>
          </a:bodyPr>
          <a:lstStyle/>
          <a:p>
            <a:pPr>
              <a:defRPr sz="15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Rule can</a:t>
            </a:r>
          </a:p>
          <a:p>
            <a:pPr>
              <a:defRPr sz="15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execute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35F258-4D61-471C-8CE6-6E10B0C5552C}"/>
              </a:ext>
            </a:extLst>
          </p:cNvPr>
          <p:cNvSpPr>
            <a:spLocks noGrp="1"/>
          </p:cNvSpPr>
          <p:nvPr/>
        </p:nvSpPr>
        <p:spPr>
          <a:xfrm>
            <a:off x="8934450" y="506730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428"/>
          </a:bodyPr>
          <a:lstStyle/>
          <a:p>
            <a:pPr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C2C9D3"/>
                </a:solidFill>
                <a:latin typeface="Arial"/>
                <a:ea typeface="Arial"/>
                <a:cs typeface="Arial"/>
              </a:rPr>
              <a:t>The Solana </a:t>
            </a:r>
            <a:r>
              <a:rPr lang="en-US" sz="1050" b="0" dirty="0">
                <a:solidFill>
                  <a:srgbClr val="C2C9D3"/>
                </a:solidFill>
                <a:latin typeface="Arial"/>
                <a:ea typeface="Arial"/>
                <a:cs typeface="Arial"/>
              </a:rPr>
              <a:t>smart contract</a:t>
            </a:r>
            <a:endParaRPr sz="1050" b="0" dirty="0">
              <a:solidFill>
                <a:srgbClr val="C2C9D3"/>
              </a:solidFill>
              <a:latin typeface="Arial"/>
              <a:ea typeface="Arial"/>
              <a:cs typeface="Arial"/>
            </a:endParaRPr>
          </a:p>
          <a:p>
            <a:pPr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C2C9D3"/>
                </a:solidFill>
                <a:latin typeface="Arial"/>
                <a:ea typeface="Arial"/>
                <a:cs typeface="Arial"/>
              </a:rPr>
              <a:t>checks that result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0228F89-31E9-48A2-9D78-ABA9E324CEC4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400050"/>
          </a:xfrm>
          <a:prstGeom prst="roundRect">
            <a:avLst>
              <a:gd name="adj" fmla="val 19048"/>
            </a:avLst>
          </a:prstGeom>
          <a:solidFill>
            <a:srgbClr val="101D28"/>
          </a:solidFill>
          <a:ln w="9525">
            <a:solidFill>
              <a:srgbClr val="FF5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BF5AD9-77CD-4C31-92C6-5FC305569CAE}"/>
              </a:ext>
            </a:extLst>
          </p:cNvPr>
          <p:cNvSpPr>
            <a:spLocks noGrp="1"/>
          </p:cNvSpPr>
          <p:nvPr/>
        </p:nvSpPr>
        <p:spPr>
          <a:xfrm>
            <a:off x="914400" y="5715000"/>
            <a:ext cx="10096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0">
                <a:solidFill>
                  <a:srgbClr val="F4EEE2"/>
                </a:solidFill>
                <a:latin typeface="Arial"/>
                <a:ea typeface="Arial"/>
                <a:cs typeface="Arial"/>
              </a:defRPr>
            </a:pPr>
            <a:r>
              <a:rPr sz="1000" b="0" dirty="0">
                <a:solidFill>
                  <a:srgbClr val="F4EEE2"/>
                </a:solidFill>
                <a:latin typeface="Arial"/>
                <a:ea typeface="Arial"/>
                <a:cs typeface="Arial"/>
              </a:rPr>
              <a:t>The smart contract still enforces its own rule. </a:t>
            </a:r>
            <a:r>
              <a:rPr sz="1000" b="0" dirty="0" err="1">
                <a:solidFill>
                  <a:srgbClr val="F4EEE2"/>
                </a:solidFill>
                <a:latin typeface="Arial"/>
                <a:ea typeface="Arial"/>
                <a:cs typeface="Arial"/>
              </a:rPr>
              <a:t>SOLstice</a:t>
            </a:r>
            <a:r>
              <a:rPr sz="1000" b="0" dirty="0">
                <a:solidFill>
                  <a:srgbClr val="F4EEE2"/>
                </a:solidFill>
                <a:latin typeface="Arial"/>
                <a:ea typeface="Arial"/>
                <a:cs typeface="Arial"/>
              </a:rPr>
              <a:t> supplies the verified condition it can read.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04791A-A62A-4FDC-9B84-A34A6762D441}"/>
              </a:ext>
            </a:extLst>
          </p:cNvPr>
          <p:cNvSpPr>
            <a:spLocks noGrp="1"/>
          </p:cNvSpPr>
          <p:nvPr/>
        </p:nvSpPr>
        <p:spPr>
          <a:xfrm>
            <a:off x="647700" y="6191250"/>
            <a:ext cx="10896600" cy="9525"/>
          </a:xfrm>
          <a:prstGeom prst="rect">
            <a:avLst/>
          </a:prstGeom>
          <a:solidFill>
            <a:srgbClr val="3D4A5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8E104F-8533-4E36-A382-C4D67057CEED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667" lnSpcReduction="20000"/>
          </a:bodyPr>
          <a:lstStyle/>
          <a:p>
            <a:pPr>
              <a:defRPr sz="975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4E69323-C654-4800-A8C1-1D5C9EAFC173}"/>
              </a:ext>
            </a:extLst>
          </p:cNvPr>
          <p:cNvSpPr>
            <a:spLocks noGrp="1"/>
          </p:cNvSpPr>
          <p:nvPr/>
        </p:nvSpPr>
        <p:spPr>
          <a:xfrm>
            <a:off x="1143000" y="6362700"/>
            <a:ext cx="6858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722" lnSpcReduction="10000"/>
          </a:bodyPr>
          <a:lstStyle/>
          <a:p>
            <a:pPr>
              <a:def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rPr>
              <a:t>SOLstice / EXTERNAL CONDITION LAYER</a:t>
            </a:r>
          </a:p>
        </p:txBody>
      </p:sp>
    </p:spTree>
    <p:extLst>
      <p:ext uri="{BB962C8B-B14F-4D97-AF65-F5344CB8AC3E}">
        <p14:creationId xmlns:p14="http://schemas.microsoft.com/office/powerpoint/2010/main" val="847116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D7EA003A-9EB2-4E35-B8AF-0F7AEA1A5CA1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3714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>
              <a:defRPr sz="1050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04 / AUTOMATIC SETTLEMENT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932968-A7D8-4073-84E1-FDED69BF0454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61912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874" lnSpcReduction="10000"/>
          </a:bodyPr>
          <a:lstStyle/>
          <a:p>
            <a:pPr>
              <a:defRPr sz="36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One condition.</a:t>
            </a:r>
          </a:p>
          <a:p>
            <a:pPr>
              <a:defRPr sz="36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Automatic settlement.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E5C5E4-DF7B-485A-989B-B9F00CF1AE3B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8382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142" lnSpcReduction="10000"/>
          </a:bodyPr>
          <a:lstStyle/>
          <a:p>
            <a:pPr>
              <a:defRPr sz="150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The developer sets the rule once. The program executes when the verifier reports that the condition passed.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07BB972-1C53-4320-BA70-D272F240F179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0A1219"/>
          </a:solidFill>
          <a:ln w="9525">
            <a:solidFill>
              <a:srgbClr val="3D4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92A2DF-151C-41CB-AD0E-78252FFE9EF3}"/>
              </a:ext>
            </a:extLst>
          </p:cNvPr>
          <p:cNvSpPr>
            <a:spLocks noGrp="1"/>
          </p:cNvSpPr>
          <p:nvPr/>
        </p:nvSpPr>
        <p:spPr>
          <a:xfrm>
            <a:off x="990600" y="3238500"/>
            <a:ext cx="2095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5833" lnSpcReduction="20000"/>
          </a:bodyPr>
          <a:lstStyle/>
          <a:p>
            <a:pPr>
              <a:defRPr sz="900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DEVELOPER CONDITION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FCFC1C-D3F4-4782-99D5-C8FBB1E18253}"/>
              </a:ext>
            </a:extLst>
          </p:cNvPr>
          <p:cNvSpPr>
            <a:spLocks noGrp="1"/>
          </p:cNvSpPr>
          <p:nvPr/>
        </p:nvSpPr>
        <p:spPr>
          <a:xfrm>
            <a:off x="990600" y="3571875"/>
            <a:ext cx="27622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037" lnSpcReduction="10000"/>
          </a:bodyPr>
          <a:lstStyle/>
          <a:p>
            <a:pPr>
              <a:defRPr sz="202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Release escrow when</a:t>
            </a:r>
          </a:p>
          <a:p>
            <a:pPr>
              <a:defRPr sz="202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the claim is verified.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26E838-4962-4C08-94BF-B24F8E2D41E2}"/>
              </a:ext>
            </a:extLst>
          </p:cNvPr>
          <p:cNvSpPr>
            <a:spLocks noGrp="1"/>
          </p:cNvSpPr>
          <p:nvPr/>
        </p:nvSpPr>
        <p:spPr>
          <a:xfrm>
            <a:off x="990600" y="4476750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500" lnSpcReduction="10000"/>
          </a:bodyPr>
          <a:lstStyle/>
          <a:p>
            <a:pPr>
              <a:defRPr sz="1125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Enabled automation waits for</a:t>
            </a:r>
          </a:p>
          <a:p>
            <a:pPr>
              <a:defRPr sz="1125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the condition to trigger.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9816F723-BBBB-451D-A882-B7443DC1723D}"/>
              </a:ext>
            </a:extLst>
          </p:cNvPr>
          <p:cNvSpPr>
            <a:spLocks noGrp="1"/>
          </p:cNvSpPr>
          <p:nvPr/>
        </p:nvSpPr>
        <p:spPr>
          <a:xfrm>
            <a:off x="4476750" y="3914775"/>
            <a:ext cx="876300" cy="133350"/>
          </a:xfrm>
          <a:prstGeom prst="rightArrow">
            <a:avLst/>
          </a:prstGeom>
          <a:solidFill>
            <a:srgbClr val="D6E3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C65BEEF-5148-4E31-AE7B-6501C6AF3F0F}"/>
              </a:ext>
            </a:extLst>
          </p:cNvPr>
          <p:cNvSpPr>
            <a:spLocks noGrp="1"/>
          </p:cNvSpPr>
          <p:nvPr/>
        </p:nvSpPr>
        <p:spPr>
          <a:xfrm>
            <a:off x="5619750" y="2952750"/>
            <a:ext cx="2457450" cy="2190750"/>
          </a:xfrm>
          <a:prstGeom prst="roundRect">
            <a:avLst>
              <a:gd name="adj" fmla="val 5217"/>
            </a:avLst>
          </a:prstGeom>
          <a:solidFill>
            <a:srgbClr val="2D62D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FC3AE6-74CB-4F67-9B23-EEA015E3404A}"/>
              </a:ext>
            </a:extLst>
          </p:cNvPr>
          <p:cNvSpPr>
            <a:spLocks noGrp="1"/>
          </p:cNvSpPr>
          <p:nvPr/>
        </p:nvSpPr>
        <p:spPr>
          <a:xfrm>
            <a:off x="5886450" y="3248025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5833" lnSpcReduction="20000"/>
          </a:bodyPr>
          <a:lstStyle/>
          <a:p>
            <a:pPr>
              <a:defRPr sz="900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VERIFIER RESULT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F9AFA1-8186-4E77-850B-0F083C51C4A8}"/>
              </a:ext>
            </a:extLst>
          </p:cNvPr>
          <p:cNvSpPr>
            <a:spLocks noGrp="1"/>
          </p:cNvSpPr>
          <p:nvPr/>
        </p:nvSpPr>
        <p:spPr>
          <a:xfrm>
            <a:off x="5886450" y="3705225"/>
            <a:ext cx="19240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condition_result</a:t>
            </a:r>
          </a:p>
          <a:p>
            <a:pPr algn="ctr">
              <a:defRPr sz="1275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= true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E62D57-3A86-4508-A38D-37801708AD32}"/>
              </a:ext>
            </a:extLst>
          </p:cNvPr>
          <p:cNvSpPr>
            <a:spLocks noGrp="1"/>
          </p:cNvSpPr>
          <p:nvPr/>
        </p:nvSpPr>
        <p:spPr>
          <a:xfrm>
            <a:off x="5886450" y="4514850"/>
            <a:ext cx="19240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619" lnSpcReduction="20000"/>
          </a:bodyPr>
          <a:lstStyle/>
          <a:p>
            <a:pPr algn="ctr">
              <a:defRPr sz="1050" b="0">
                <a:solidFill>
                  <a:srgbClr val="F4EEE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EEE2"/>
                </a:solidFill>
                <a:latin typeface="Arial"/>
                <a:ea typeface="Arial"/>
                <a:cs typeface="Arial"/>
              </a:rPr>
              <a:t>A signed result reaches</a:t>
            </a:r>
          </a:p>
          <a:p>
            <a:pPr algn="ctr">
              <a:defRPr sz="1050" b="0">
                <a:solidFill>
                  <a:srgbClr val="F4EEE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EEE2"/>
                </a:solidFill>
                <a:latin typeface="Arial"/>
                <a:ea typeface="Arial"/>
                <a:cs typeface="Arial"/>
              </a:rPr>
              <a:t>the program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F92658EC-0980-42E6-BEE8-58BA5C5B5859}"/>
              </a:ext>
            </a:extLst>
          </p:cNvPr>
          <p:cNvSpPr>
            <a:spLocks noGrp="1"/>
          </p:cNvSpPr>
          <p:nvPr/>
        </p:nvSpPr>
        <p:spPr>
          <a:xfrm>
            <a:off x="8343900" y="3914775"/>
            <a:ext cx="876300" cy="133350"/>
          </a:xfrm>
          <a:prstGeom prst="rightArrow">
            <a:avLst/>
          </a:prstGeom>
          <a:solidFill>
            <a:srgbClr val="D6E3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8782458-578D-408D-88F6-1A1B9CA4D572}"/>
              </a:ext>
            </a:extLst>
          </p:cNvPr>
          <p:cNvSpPr>
            <a:spLocks noGrp="1"/>
          </p:cNvSpPr>
          <p:nvPr/>
        </p:nvSpPr>
        <p:spPr>
          <a:xfrm>
            <a:off x="9477375" y="2952750"/>
            <a:ext cx="2028825" cy="2190750"/>
          </a:xfrm>
          <a:prstGeom prst="roundRect">
            <a:avLst>
              <a:gd name="adj" fmla="val 5634"/>
            </a:avLst>
          </a:prstGeom>
          <a:solidFill>
            <a:srgbClr val="101D28"/>
          </a:solidFill>
          <a:ln w="19050">
            <a:solidFill>
              <a:srgbClr val="D6E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6EC397-E180-4E0E-9E78-78E3E6F6BA13}"/>
              </a:ext>
            </a:extLst>
          </p:cNvPr>
          <p:cNvSpPr>
            <a:spLocks noGrp="1"/>
          </p:cNvSpPr>
          <p:nvPr/>
        </p:nvSpPr>
        <p:spPr>
          <a:xfrm>
            <a:off x="9744075" y="3248025"/>
            <a:ext cx="1524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5833" lnSpcReduction="20000"/>
          </a:bodyPr>
          <a:lstStyle/>
          <a:p>
            <a:pPr>
              <a:defRPr sz="900" b="1">
                <a:solidFill>
                  <a:srgbClr val="D6E34D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D6E34D"/>
                </a:solidFill>
                <a:latin typeface="Courier New"/>
                <a:ea typeface="Courier New"/>
                <a:cs typeface="Courier New"/>
              </a:rPr>
              <a:t>SOLANA PROGRAM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6D31B3-DAFA-4EC0-8EAA-ACE559EA620B}"/>
              </a:ext>
            </a:extLst>
          </p:cNvPr>
          <p:cNvSpPr>
            <a:spLocks noGrp="1"/>
          </p:cNvSpPr>
          <p:nvPr/>
        </p:nvSpPr>
        <p:spPr>
          <a:xfrm>
            <a:off x="9744075" y="3676650"/>
            <a:ext cx="1524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167" lnSpcReduction="10000"/>
          </a:bodyPr>
          <a:lstStyle/>
          <a:p>
            <a:pPr algn="ctr">
              <a:defRPr sz="1650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release_</a:t>
            </a:r>
          </a:p>
          <a:p>
            <a:pPr algn="ctr">
              <a:defRPr sz="1650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escrow()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BA4A57-0965-4CB9-A150-3F9165D40C40}"/>
              </a:ext>
            </a:extLst>
          </p:cNvPr>
          <p:cNvSpPr>
            <a:spLocks noGrp="1"/>
          </p:cNvSpPr>
          <p:nvPr/>
        </p:nvSpPr>
        <p:spPr>
          <a:xfrm>
            <a:off x="9744075" y="4533900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619" lnSpcReduction="20000"/>
          </a:bodyPr>
          <a:lstStyle/>
          <a:p>
            <a:pPr algn="ctr"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Escrow settles</a:t>
            </a:r>
          </a:p>
          <a:p>
            <a:pPr algn="ctr"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on devnet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246A51-E343-4E3C-9675-DED42DB2F2CD}"/>
              </a:ext>
            </a:extLst>
          </p:cNvPr>
          <p:cNvSpPr>
            <a:spLocks noGrp="1"/>
          </p:cNvSpPr>
          <p:nvPr/>
        </p:nvSpPr>
        <p:spPr>
          <a:xfrm>
            <a:off x="685800" y="5610225"/>
            <a:ext cx="10820400" cy="9525"/>
          </a:xfrm>
          <a:prstGeom prst="rect">
            <a:avLst/>
          </a:prstGeom>
          <a:solidFill>
            <a:srgbClr val="3D4A5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2F4481-E27F-422A-B526-C010BDF9B023}"/>
              </a:ext>
            </a:extLst>
          </p:cNvPr>
          <p:cNvSpPr>
            <a:spLocks noGrp="1"/>
          </p:cNvSpPr>
          <p:nvPr/>
        </p:nvSpPr>
        <p:spPr>
          <a:xfrm>
            <a:off x="685800" y="5781675"/>
            <a:ext cx="2000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5833" lnSpcReduction="20000"/>
          </a:bodyPr>
          <a:lstStyle/>
          <a:p>
            <a:pPr>
              <a:defRPr sz="900" b="1">
                <a:solidFill>
                  <a:srgbClr val="D6E34D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D6E34D"/>
                </a:solidFill>
                <a:latin typeface="Courier New"/>
                <a:ea typeface="Courier New"/>
                <a:cs typeface="Courier New"/>
              </a:rPr>
              <a:t>DEMO CONTRACT PATH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112C6E-7FBC-415E-8FBA-F48203DF405F}"/>
              </a:ext>
            </a:extLst>
          </p:cNvPr>
          <p:cNvSpPr>
            <a:spLocks noGrp="1"/>
          </p:cNvSpPr>
          <p:nvPr/>
        </p:nvSpPr>
        <p:spPr>
          <a:xfrm>
            <a:off x="3076575" y="5734050"/>
            <a:ext cx="1181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8088" lnSpcReduction="20000"/>
          </a:bodyPr>
          <a:lstStyle/>
          <a:p>
            <a:pPr algn="ctr">
              <a:defRPr sz="1275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Enabled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FF33C9A0-CA78-4C0A-ABFF-3E2D6BFFD17C}"/>
              </a:ext>
            </a:extLst>
          </p:cNvPr>
          <p:cNvSpPr>
            <a:spLocks noGrp="1"/>
          </p:cNvSpPr>
          <p:nvPr/>
        </p:nvSpPr>
        <p:spPr>
          <a:xfrm>
            <a:off x="4276725" y="5791200"/>
            <a:ext cx="457200" cy="133350"/>
          </a:xfrm>
          <a:prstGeom prst="rightArrow">
            <a:avLst/>
          </a:prstGeom>
          <a:solidFill>
            <a:srgbClr val="3D4A5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1B6ABF-EFF1-47EF-B3DB-B05322AE1067}"/>
              </a:ext>
            </a:extLst>
          </p:cNvPr>
          <p:cNvSpPr>
            <a:spLocks noGrp="1"/>
          </p:cNvSpPr>
          <p:nvPr/>
        </p:nvSpPr>
        <p:spPr>
          <a:xfrm>
            <a:off x="4876800" y="573405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8088" lnSpcReduction="20000"/>
          </a:bodyPr>
          <a:lstStyle/>
          <a:p>
            <a:pPr algn="ctr">
              <a:defRPr sz="1275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Triggered</a:t>
            </a: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B0E9419D-AF1D-49D7-B228-21178C443275}"/>
              </a:ext>
            </a:extLst>
          </p:cNvPr>
          <p:cNvSpPr>
            <a:spLocks noGrp="1"/>
          </p:cNvSpPr>
          <p:nvPr/>
        </p:nvSpPr>
        <p:spPr>
          <a:xfrm>
            <a:off x="6210300" y="5791200"/>
            <a:ext cx="457200" cy="133350"/>
          </a:xfrm>
          <a:prstGeom prst="rightArrow">
            <a:avLst/>
          </a:prstGeom>
          <a:solidFill>
            <a:srgbClr val="3D4A5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21F492-F966-4A46-A2E9-C890604EF64B}"/>
              </a:ext>
            </a:extLst>
          </p:cNvPr>
          <p:cNvSpPr>
            <a:spLocks noGrp="1"/>
          </p:cNvSpPr>
          <p:nvPr/>
        </p:nvSpPr>
        <p:spPr>
          <a:xfrm>
            <a:off x="6800850" y="5734050"/>
            <a:ext cx="1181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8088" lnSpcReduction="20000"/>
          </a:bodyPr>
          <a:lstStyle/>
          <a:p>
            <a:pPr algn="ctr">
              <a:defRPr sz="1275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Verified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89DDF347-5DE3-452B-A30F-7AEC5BD94E77}"/>
              </a:ext>
            </a:extLst>
          </p:cNvPr>
          <p:cNvSpPr>
            <a:spLocks noGrp="1"/>
          </p:cNvSpPr>
          <p:nvPr/>
        </p:nvSpPr>
        <p:spPr>
          <a:xfrm>
            <a:off x="8029575" y="5791200"/>
            <a:ext cx="457200" cy="133350"/>
          </a:xfrm>
          <a:prstGeom prst="rightArrow">
            <a:avLst/>
          </a:prstGeom>
          <a:solidFill>
            <a:srgbClr val="3D4A5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C69237-F05C-4565-9129-B589AD130B6A}"/>
              </a:ext>
            </a:extLst>
          </p:cNvPr>
          <p:cNvSpPr>
            <a:spLocks noGrp="1"/>
          </p:cNvSpPr>
          <p:nvPr/>
        </p:nvSpPr>
        <p:spPr>
          <a:xfrm>
            <a:off x="8629650" y="5734050"/>
            <a:ext cx="1333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8088" lnSpcReduction="20000"/>
          </a:bodyPr>
          <a:lstStyle/>
          <a:p>
            <a:pPr algn="ctr">
              <a:defRPr sz="1275" b="1">
                <a:solidFill>
                  <a:srgbClr val="D6E34D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D6E34D"/>
                </a:solidFill>
                <a:latin typeface="Courier New"/>
                <a:ea typeface="Courier New"/>
                <a:cs typeface="Courier New"/>
              </a:rPr>
              <a:t>Executed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8E4E4D-D89C-42A3-8402-46063891A085}"/>
              </a:ext>
            </a:extLst>
          </p:cNvPr>
          <p:cNvSpPr>
            <a:spLocks noGrp="1"/>
          </p:cNvSpPr>
          <p:nvPr/>
        </p:nvSpPr>
        <p:spPr>
          <a:xfrm>
            <a:off x="647700" y="6191250"/>
            <a:ext cx="10896600" cy="9525"/>
          </a:xfrm>
          <a:prstGeom prst="rect">
            <a:avLst/>
          </a:prstGeom>
          <a:solidFill>
            <a:srgbClr val="3D4A5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C2BD687-9A25-46CF-A1D4-E7916992FA2E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4167" lnSpcReduction="20000"/>
          </a:bodyPr>
          <a:lstStyle/>
          <a:p>
            <a:pPr>
              <a:defRPr sz="975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6B9DE8-C075-4181-8746-0E3E44DEBE3D}"/>
              </a:ext>
            </a:extLst>
          </p:cNvPr>
          <p:cNvSpPr>
            <a:spLocks noGrp="1"/>
          </p:cNvSpPr>
          <p:nvPr/>
        </p:nvSpPr>
        <p:spPr>
          <a:xfrm>
            <a:off x="1143000" y="6362700"/>
            <a:ext cx="6858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722" lnSpcReduction="10000"/>
          </a:bodyPr>
          <a:lstStyle/>
          <a:p>
            <a:pPr>
              <a:def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rPr>
              <a:t>SOLstice / AUTOMATIC SETTLEMENT</a:t>
            </a: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78A2639D-DA0A-3F75-ADF9-345725191338}"/>
              </a:ext>
            </a:extLst>
          </p:cNvPr>
          <p:cNvSpPr>
            <a:spLocks noGrp="1"/>
          </p:cNvSpPr>
          <p:nvPr/>
        </p:nvSpPr>
        <p:spPr>
          <a:xfrm rot="20320008">
            <a:off x="3035919" y="2862262"/>
            <a:ext cx="876300" cy="133350"/>
          </a:xfrm>
          <a:prstGeom prst="rightArrow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835E2D0C-C8F3-AE4A-BF0B-9205726F4C17}"/>
              </a:ext>
            </a:extLst>
          </p:cNvPr>
          <p:cNvSpPr>
            <a:spLocks noGrp="1"/>
          </p:cNvSpPr>
          <p:nvPr/>
        </p:nvSpPr>
        <p:spPr>
          <a:xfrm rot="20531167">
            <a:off x="3858410" y="3169610"/>
            <a:ext cx="876300" cy="133350"/>
          </a:xfrm>
          <a:prstGeom prst="rightArrow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pic>
        <p:nvPicPr>
          <p:cNvPr id="33" name="Picture 32" descr="Google logo transparent background 46861647 PNG">
            <a:extLst>
              <a:ext uri="{FF2B5EF4-FFF2-40B4-BE49-F238E27FC236}">
                <a16:creationId xmlns:a16="http://schemas.microsoft.com/office/drawing/2014/main" id="{077D8DA1-BAEC-2372-D4A7-89D6565A6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396" y="2447925"/>
            <a:ext cx="457200" cy="457200"/>
          </a:xfrm>
          <a:prstGeom prst="rect">
            <a:avLst/>
          </a:prstGeom>
        </p:spPr>
      </p:pic>
      <p:pic>
        <p:nvPicPr>
          <p:cNvPr id="34" name="Picture 33" descr="reddit logo png, reddit icon transparent png 18930474 PNG">
            <a:extLst>
              <a:ext uri="{FF2B5EF4-FFF2-40B4-BE49-F238E27FC236}">
                <a16:creationId xmlns:a16="http://schemas.microsoft.com/office/drawing/2014/main" id="{C64B8C17-71C7-FDE6-AA6C-EA5BF78A8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848" y="2757155"/>
            <a:ext cx="62865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4183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511</Words>
  <Application>Microsoft Macintosh PowerPoint</Application>
  <DocSecurity>0</DocSecurity>
  <PresentationFormat>Widescreen</PresentationFormat>
  <Paragraphs>93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Courier New</vt:lpstr>
      <vt:lpstr>Georgia</vt:lpstr>
      <vt:lpstr>ChatGPT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Shrivastav, Ashwin</cp:lastModifiedBy>
  <cp:revision>1</cp:revision>
  <dcterms:created xsi:type="dcterms:W3CDTF">2026-10-04T14:59:18Z</dcterms:created>
  <dcterms:modified xsi:type="dcterms:W3CDTF">2026-10-04T15:08:17Z</dcterms:modified>
</cp:coreProperties>
</file>