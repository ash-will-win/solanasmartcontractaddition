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db331c1e574935" /><Relationship Type="http://schemas.openxmlformats.org/officeDocument/2006/relationships/extended-properties" Target="/docProps/app.xml" Id="Rd5fc3d022ab24f62" /><Relationship Type="http://schemas.openxmlformats.org/officeDocument/2006/relationships/officeDocument" Target="/ppt/presentation.xml" Id="R8b77996c6bb049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7dddd682124f41"/>
  </p:sldMasterIdLst>
  <p:notesMasterIdLst>
    <p:notesMasterId xmlns:r="http://schemas.openxmlformats.org/officeDocument/2006/relationships" r:id="R55f4409ceb2749b1"/>
  </p:notesMasterIdLst>
  <p:sldIdLst>
    <p:sldId xmlns:r="http://schemas.openxmlformats.org/officeDocument/2006/relationships" id="256" r:id="R7f910ace64354adf"/>
    <p:sldId xmlns:r="http://schemas.openxmlformats.org/officeDocument/2006/relationships" id="257" r:id="Re0346410e1414710"/>
    <p:sldId xmlns:r="http://schemas.openxmlformats.org/officeDocument/2006/relationships" id="258" r:id="R5ca2e6e732604e98"/>
    <p:sldId xmlns:r="http://schemas.openxmlformats.org/officeDocument/2006/relationships" id="259" r:id="Rf90351d2f1c74a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c11abf813d4e41" /><Relationship Type="http://schemas.openxmlformats.org/officeDocument/2006/relationships/slideMaster" Target="/ppt/slideMasters/slideMaster1.xml" Id="R6e7dddd682124f41" /><Relationship Type="http://schemas.openxmlformats.org/officeDocument/2006/relationships/notesMaster" Target="/ppt/notesMasters/notesMaster1.xml" Id="R55f4409ceb2749b1" /><Relationship Type="http://schemas.openxmlformats.org/officeDocument/2006/relationships/presProps" Target="/ppt/presProps.xml" Id="R1fbfd714a16f4c88" /><Relationship Type="http://schemas.openxmlformats.org/officeDocument/2006/relationships/tableStyles" Target="/ppt/tableStyles.xml" Id="R372cb44b071b4db4" /><Relationship Type="http://schemas.openxmlformats.org/officeDocument/2006/relationships/slide" Target="/ppt/slides/slide1.xml" Id="R7f910ace64354adf" /><Relationship Type="http://schemas.openxmlformats.org/officeDocument/2006/relationships/slide" Target="/ppt/slides/slide2.xml" Id="Re0346410e1414710" /><Relationship Type="http://schemas.openxmlformats.org/officeDocument/2006/relationships/slide" Target="/ppt/slides/slide3.xml" Id="R5ca2e6e732604e98" /><Relationship Type="http://schemas.openxmlformats.org/officeDocument/2006/relationships/slide" Target="/ppt/slides/slide4.xml" Id="Rf90351d2f1c74a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8bae86ae774f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b0a55aa08e444b" /><Relationship Type="http://schemas.openxmlformats.org/officeDocument/2006/relationships/notesMaster" Target="/ppt/notesMasters/notesMaster1.xml" Id="R8cab8b30e2914d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93777c707f41b0" /><Relationship Type="http://schemas.openxmlformats.org/officeDocument/2006/relationships/notesMaster" Target="/ppt/notesMasters/notesMaster1.xml" Id="Rbbf3ea98c11349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5adf66d88b4e02" /><Relationship Type="http://schemas.openxmlformats.org/officeDocument/2006/relationships/notesMaster" Target="/ppt/notesMasters/notesMaster1.xml" Id="Re06a72fff1d04a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747923b42f4b6d" /><Relationship Type="http://schemas.openxmlformats.org/officeDocument/2006/relationships/notesMaster" Target="/ppt/notesMasters/notesMaster1.xml" Id="R0e5045ae15b54b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SOLstice connects off-chain verification with on-chain enforcement in a devnet proof of concept. A centralized verifier submits a condition result; the Solana program enforces the escrow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Solana programs execute when an instruction in a transaction invokes them. The instruction supplies the accounts the program can read or modify. Source: https://solana.com/docs/core/programs and https://solana.com/docs/core.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application lets users define real-world conditions when available evidence can support checks. Public web and Reddit search snippets are evaluated off-chain, then the centralized verifier submits a signed result. The verifier is trusted in this devnet proof of concept.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demo starts after the user enables a condition. A simulated trigger starts the real verification runner. The centralized verifier records the result. The Solana program can release a linked, funded devnet escrow after it receives a passing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ebfe4c85b942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90a0348e7d40a1" /><Relationship Type="http://schemas.openxmlformats.org/officeDocument/2006/relationships/slideLayout" Target="/ppt/slideLayouts/slideLayout1.xml" Id="R7726ebb19bf148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26ebb19bf148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a871b3c7c4e23" /><Relationship Type="http://schemas.openxmlformats.org/officeDocument/2006/relationships/notesSlide" Target="/ppt/notesSlides/notesSlide1.xml" Id="R6df3ae106e5e40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575eed1cc4bbe" /><Relationship Type="http://schemas.openxmlformats.org/officeDocument/2006/relationships/notesSlide" Target="/ppt/notesSlides/notesSlide2.xml" Id="R7f477e35272344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befaed76f4b0f" /><Relationship Type="http://schemas.openxmlformats.org/officeDocument/2006/relationships/notesSlide" Target="/ppt/notesSlides/notesSlide3.xml" Id="R441b5ee79b744b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242155bdd4b3e" /><Relationship Type="http://schemas.openxmlformats.org/officeDocument/2006/relationships/notesSlide" Target="/ppt/notesSlides/notesSlide4.xml" Id="R0df6b8e548734a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25D59-5B98-43F4-9A27-24A332E7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714"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5250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SOLstice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F449C-B845-42ED-9EC0-0F4FB8EF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56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5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87317-72E0-4157-A758-97900D13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71675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Conditions beyond</a:t>
            </a:r>
          </a:p>
          <a:p xmlns:a="http://schemas.openxmlformats.org/drawingml/2006/main">
            <a:pPr>
              <a:defRPr sz="2025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on-chain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38601-2B37-4FF6-B401-C5CE974B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416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4EEE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EEE2"/>
                </a:solidFill>
                <a:latin typeface="Arial"/>
                <a:ea typeface="Arial"/>
                <a:cs typeface="Arial"/>
              </a:rPr>
              <a:t>Program an escrow rule around a real-world condition.</a:t>
            </a:r>
          </a:p>
          <a:p xmlns:a="http://schemas.openxmlformats.org/drawingml/2006/main">
            <a:pPr>
              <a:defRPr sz="1650" b="0">
                <a:solidFill>
                  <a:srgbClr val="F4EEE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EEE2"/>
                </a:solidFill>
                <a:latin typeface="Arial"/>
                <a:ea typeface="Arial"/>
                <a:cs typeface="Arial"/>
              </a:rPr>
              <a:t>SOLstice delivers a verified result that a Solana program can enforce.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6FADC-426F-42D6-AF9B-F4020C5F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Ashwin Shrivastav, Akhil Swaminathan</a:t>
            </a:r>
          </a:p>
          <a:p xmlns:a="http://schemas.openxmlformats.org/drawingml/2006/main">
            <a:pPr>
              <a:def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Sudeep Gowda, Joshua Asirvatham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D7341-1FEC-44D0-8361-566C4C0C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483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MHACKS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5B735-DFEE-43BD-BA3F-C530B84A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5505450" cy="3314700"/>
          </a:xfrm>
          <a:prstGeom xmlns:a="http://schemas.openxmlformats.org/drawingml/2006/main" prst="roundRect">
            <a:avLst>
              <a:gd name="adj" fmla="val 4023"/>
            </a:avLst>
          </a:prstGeom>
          <a:solidFill xmlns:a="http://schemas.openxmlformats.org/drawingml/2006/main">
            <a:srgbClr val="091118"/>
          </a:solidFill>
          <a:ln xmlns:a="http://schemas.openxmlformats.org/drawingml/2006/main" w="9525">
            <a:solidFill>
              <a:srgbClr val="3D4A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BEFA5-9116-4FB9-8D4A-7C3A1303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764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CONDITION EXECUTION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BB76B-F4F9-4C31-AC67-BFC4AD54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669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6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“Release escrow when</a:t>
            </a:r>
          </a:p>
          <a:p xmlns:a="http://schemas.openxmlformats.org/drawingml/2006/main">
            <a:pPr>
              <a:defRPr sz="202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the condition is verified.”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D16E1-524B-4AD3-82E7-B21B8A97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718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EE42B-9637-46E1-B141-565B24B7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09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90A1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8190A1"/>
                </a:solidFill>
                <a:latin typeface="Courier New"/>
                <a:ea typeface="Courier New"/>
                <a:cs typeface="Courier New"/>
              </a:rPr>
              <a:t>VERIFIER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44A53-197F-414C-A224-469DA8E8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480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6E34D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D6E34D"/>
                </a:solidFill>
                <a:latin typeface="Courier New"/>
                <a:ea typeface="Courier New"/>
                <a:cs typeface="Courier New"/>
              </a:rPr>
              <a:t>condition_result = true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6A748-868D-4239-8FB4-E0A2B389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714750"/>
            <a:ext cx="609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E34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F8538-2B9A-4133-B45B-852F6601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099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190A1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8190A1"/>
                </a:solidFill>
                <a:latin typeface="Courier New"/>
                <a:ea typeface="Courier New"/>
                <a:cs typeface="Courier New"/>
              </a:rPr>
              <a:t>SOLANA PROGRAM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AAF78-2223-4EB4-A103-25800039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480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release_escrow()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9F6CD-6AB6-4A1A-86D6-5C2A0BD7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10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A verified condition becomes an on-chain fact.</a:t>
            </a:r>
          </a:p>
          <a:p xmlns:a="http://schemas.openxmlformats.org/drawingml/2006/main">
            <a:pPr>
              <a:defRPr sz="120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The contract handles the settlement.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CE828-7808-4439-A7E9-D5C5B28E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7C79E-C1FE-4424-99E3-1AC8E801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EEFEC-28CF-4348-8BB7-9C1F7E10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627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SOLstice / 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7618197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86496C-3BB6-419D-A866-FA141C3F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6E34D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D6E34D"/>
                </a:solidFill>
                <a:latin typeface="Courier New"/>
                <a:ea typeface="Courier New"/>
                <a:cs typeface="Courier New"/>
              </a:rPr>
              <a:t>02 / EXECUTION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DA3F5-11EF-49AF-B339-934A583A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How a Solana program executes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225D2-3DC9-4E3F-8E3C-5CD73441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1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A transaction calls the program. The program reads the supplied on-chain accounts and decides what state can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BB023-A2B8-491F-AB0F-E0923671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E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16856-B908-4C4D-BC91-91AA3E44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95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53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18B56-E3A3-45B1-BE70-7529D1F4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62D4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2D62D4"/>
                </a:solidFill>
                <a:latin typeface="Courier New"/>
                <a:ea typeface="Courier New"/>
                <a:cs typeface="Courier New"/>
              </a:rPr>
              <a:t>TRANSACTION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8E8F5-C520-4D39-A53A-1A00AB1E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C1720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0C1720"/>
                </a:solidFill>
                <a:latin typeface="Courier New"/>
                <a:ea typeface="Courier New"/>
                <a:cs typeface="Courier New"/>
              </a:rPr>
              <a:t>release_escrow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C9581-63AD-4FC4-8C06-9A6F5726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3A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72240-464B-4A22-93ED-FAAEF0B0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90975"/>
            <a:ext cx="209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87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C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C1720"/>
                </a:solidFill>
                <a:latin typeface="Arial"/>
                <a:ea typeface="Arial"/>
                <a:cs typeface="Arial"/>
              </a:rPr>
              <a:t>Instruction plus</a:t>
            </a:r>
          </a:p>
          <a:p xmlns:a="http://schemas.openxmlformats.org/drawingml/2006/main">
            <a:pPr>
              <a:defRPr sz="1125" b="0">
                <a:solidFill>
                  <a:srgbClr val="0C17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C1720"/>
                </a:solidFill>
                <a:latin typeface="Arial"/>
                <a:ea typeface="Arial"/>
                <a:cs typeface="Arial"/>
              </a:rPr>
              <a:t>the accounts it can read or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A2623-BF84-4AA3-95F3-8669DE25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81400"/>
            <a:ext cx="838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E3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CA52A-0F2A-4B5E-9A73-9DD5A376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25336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2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0C3CD-D5C0-4054-87F2-2C5D9CB9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099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PROGRAM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C00DD5-2867-4BFE-A492-04027821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623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8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Checks the</a:t>
            </a:r>
          </a:p>
          <a:p xmlns:a="http://schemas.openxmlformats.org/drawingml/2006/main">
            <a:pPr algn="ctr">
              <a:defRPr sz="232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BEDA1-6848-4826-9A0B-CCC0C9A8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338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on-chain logic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518469-DE1B-4076-A295-CBC63989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81400"/>
            <a:ext cx="838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E34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5CEA1-D13A-4646-B1CE-7A9207B1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rPr>
              <a:t>ON-CHAIN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F049B-F911-4EE2-93EE-9DE04015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81375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926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Release SOL</a:t>
            </a:r>
          </a:p>
          <a:p xmlns:a="http://schemas.openxmlformats.org/drawingml/2006/main">
            <a:pPr>
              <a:defRPr sz="21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or keep escrow locked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5570A0-6E13-461C-90A5-3C05775A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52AD6-17A9-456B-A933-E484FA6C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WHAT SITS OUTSIDE THE TRANSACTION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62FC4D-2624-49D9-A582-7DE5C5B6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24525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EE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EEE2"/>
                </a:solidFill>
                <a:latin typeface="Arial"/>
                <a:ea typeface="Arial"/>
                <a:cs typeface="Arial"/>
              </a:rPr>
              <a:t>News, delivery status, documents, and other real-world facts need a trusted path into the program.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108EE1-1CF9-404A-824B-98D1BBAC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FB4725-78C3-46DF-AA10-4B0802C9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FFFE31-173B-4B24-B43F-B4249DFF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627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SOLstice / EXECUTION MODEL</a:t>
            </a:r>
          </a:p>
        </p:txBody>
      </p:sp>
    </p:spTree>
    <p:extLst>
      <p:ext uri="{BB962C8B-B14F-4D97-AF65-F5344CB8AC3E}">
        <p14:creationId xmlns:p14="http://schemas.microsoft.com/office/powerpoint/2010/main" val="16089679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650A00-2067-4223-A08F-6E4A828C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62D4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2D62D4"/>
                </a:solidFill>
                <a:latin typeface="Courier New"/>
                <a:ea typeface="Courier New"/>
                <a:cs typeface="Courier New"/>
              </a:rPr>
              <a:t>03 / THE SOLSTICE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CAEAA-5B28-48A7-AC08-BB151C1D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153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External conditions,</a:t>
            </a:r>
          </a:p>
          <a:p xmlns:a="http://schemas.openxmlformats.org/drawingml/2006/main">
            <a:pPr>
              <a:defRPr sz="3600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on-chain enforcement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2917A-C574-45B2-B38D-1BEB68A3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81225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SOLstice turns a condition outside Solana into a result the program can enforce.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53F4B-44B6-477B-86E4-E9E36E2E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0025"/>
            <a:ext cx="994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6B906-36F7-4731-AE0F-755EECB8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95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53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B4234-D1D1-458F-998E-6EAE95E9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CONDITION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4D997-5382-4A0F-8C9E-A7FE70EA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657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9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A milestone</a:t>
            </a:r>
          </a:p>
          <a:p xmlns:a="http://schemas.openxmlformats.org/drawingml/2006/main">
            <a:pPr>
              <a:defRPr sz="15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needs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A34E0-E48F-4D1C-8CC3-C614EA83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The user defines</a:t>
            </a:r>
          </a:p>
          <a:p xmlns:a="http://schemas.openxmlformats.org/drawingml/2006/main"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what must be true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DCE51-13FB-456F-A11D-E14B0B9E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1847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C0CC8-7A3A-4BA5-A829-F55DB644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95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2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C21CA-9CD6-4F76-89FD-F9AFE159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862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62D4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2D62D4"/>
                </a:solidFill>
                <a:latin typeface="Courier New"/>
                <a:ea typeface="Courier New"/>
                <a:cs typeface="Courier New"/>
              </a:rPr>
              <a:t>VERIFICATION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54A33-10E8-41F9-9532-18EA6090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0532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9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Evidence supports</a:t>
            </a:r>
          </a:p>
          <a:p xmlns:a="http://schemas.openxmlformats.org/drawingml/2006/main">
            <a:pPr>
              <a:defRPr sz="15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the condition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0D8D3-DB6D-4C38-BB6C-07C7672C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673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SOLstice checks</a:t>
            </a:r>
          </a:p>
          <a:p xmlns:a="http://schemas.openxmlformats.org/drawingml/2006/main"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the available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75E6D-3AF7-469C-ABBB-D06F6B73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62400"/>
            <a:ext cx="1847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1D453-B480-463B-A413-F4CC5301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95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53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57AE1-AB09-4731-9E1B-E5739416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VERIFIER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559E2-1F09-4A58-AC76-F9EE060B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7657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true / false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E0557B-4DF6-4A3A-8539-BAF03AC5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The verifier writes</a:t>
            </a:r>
          </a:p>
          <a:p xmlns:a="http://schemas.openxmlformats.org/drawingml/2006/main"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a result it controls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C48B7-ADC1-4F25-A602-68F50923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62400"/>
            <a:ext cx="1847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98FAD0-9464-4A01-A67D-E2B9D133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95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34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DF0276-EFFB-4032-81CD-992E488E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862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rPr>
              <a:t>PROGRAM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8005B-1C7A-4DA3-A2C3-4E1BED01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0532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9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Rule can</a:t>
            </a:r>
          </a:p>
          <a:p xmlns:a="http://schemas.openxmlformats.org/drawingml/2006/main">
            <a:pPr>
              <a:defRPr sz="15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execute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35F258-4D61-471C-8CE6-6E10B0C5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673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The Solana program</a:t>
            </a:r>
          </a:p>
          <a:p xmlns:a="http://schemas.openxmlformats.org/drawingml/2006/main">
            <a:pPr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checks that 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228F89-31E9-48A2-9D78-ABA9E324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1D28"/>
          </a:solidFill>
          <a:ln xmlns:a="http://schemas.openxmlformats.org/drawingml/2006/main" w="9525">
            <a:solidFill>
              <a:srgbClr val="FF55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BF5AD9-77CD-4C31-92C6-5FC30556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4EEE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EEE2"/>
                </a:solidFill>
                <a:latin typeface="Arial"/>
                <a:ea typeface="Arial"/>
                <a:cs typeface="Arial"/>
              </a:rPr>
              <a:t>The smart contract still enforces its own rule. SOLstice supplies the verified condition it can read.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04791A-A62A-4FDC-9B84-A34A6762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8E104F-8533-4E36-A382-C4D67057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E69323-C654-4800-A8C1-1D5C9EAF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627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SOLstice / EXTERNAL CONDITION LAYER</a:t>
            </a:r>
          </a:p>
        </p:txBody>
      </p:sp>
    </p:spTree>
    <p:extLst>
      <p:ext uri="{BB962C8B-B14F-4D97-AF65-F5344CB8AC3E}">
        <p14:creationId xmlns:p14="http://schemas.microsoft.com/office/powerpoint/2010/main" val="8471164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EA003A-9EB2-4E35-B8AF-0F7AEA1A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04 / AUTOMATIC SETTLEMENT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32968-A7D8-4073-84E1-FDED69BF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374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One condition.</a:t>
            </a:r>
          </a:p>
          <a:p xmlns:a="http://schemas.openxmlformats.org/drawingml/2006/main">
            <a:pPr>
              <a:defRPr sz="367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Automatic settlement.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5C5E4-DF7B-485A-989B-B9F00CF1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4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The developer sets the rule once. The program executes when the verifier reports that the condition passed.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BB972-1C53-4320-BA70-D272F240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3524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A1219"/>
          </a:solidFill>
          <a:ln xmlns:a="http://schemas.openxmlformats.org/drawingml/2006/main" w="9525">
            <a:solidFill>
              <a:srgbClr val="3D4A5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2A2DF-151C-41CB-AD0E-78252FFE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DEVELOPER CONDITION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CFC1C-D3F4-4782-99D5-C8FBB1E1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71875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3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Release escrow when</a:t>
            </a:r>
          </a:p>
          <a:p xmlns:a="http://schemas.openxmlformats.org/drawingml/2006/main">
            <a:pPr>
              <a:defRPr sz="2025" b="1">
                <a:solidFill>
                  <a:srgbClr val="F4EEE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4EEE2"/>
                </a:solidFill>
                <a:latin typeface="Georgia"/>
                <a:ea typeface="Georgia"/>
                <a:cs typeface="Georgia"/>
              </a:rPr>
              <a:t>the claim is verified.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6E838-4962-4C08-94BF-B24F8E2D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Enabled automation waits for</a:t>
            </a:r>
          </a:p>
          <a:p xmlns:a="http://schemas.openxmlformats.org/drawingml/2006/main">
            <a:pPr>
              <a:defRPr sz="1125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the condition to trigger.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6F723-BBBB-451D-A882-B7443DC1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14775"/>
            <a:ext cx="876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E3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5BEEF-5148-4E31-AE7B-6501C6AF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24574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2D62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C3AE6-74CB-4F67-9B23-EEA015E3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480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VERIFIER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9AFA1-8186-4E77-850B-0F083C51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05225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condition_result</a:t>
            </a:r>
          </a:p>
          <a:p xmlns:a="http://schemas.openxmlformats.org/drawingml/2006/main">
            <a:pPr algn="ctr">
              <a:def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= true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62D57-3A86-4508-A38D-37801708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148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4EEE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EEE2"/>
                </a:solidFill>
                <a:latin typeface="Arial"/>
                <a:ea typeface="Arial"/>
                <a:cs typeface="Arial"/>
              </a:rPr>
              <a:t>A signed result reaches</a:t>
            </a:r>
          </a:p>
          <a:p xmlns:a="http://schemas.openxmlformats.org/drawingml/2006/main">
            <a:pPr algn="ctr">
              <a:defRPr sz="1050" b="0">
                <a:solidFill>
                  <a:srgbClr val="F4EEE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EEE2"/>
                </a:solidFill>
                <a:latin typeface="Arial"/>
                <a:ea typeface="Arial"/>
                <a:cs typeface="Arial"/>
              </a:rPr>
              <a:t>the program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658EC-0980-42E6-BEE8-58BA5C5B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14775"/>
            <a:ext cx="8763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E34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82458-578D-408D-88F6-1A1B9CA4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0"/>
            <a:ext cx="2028825" cy="21907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1D28"/>
          </a:solidFill>
          <a:ln xmlns:a="http://schemas.openxmlformats.org/drawingml/2006/main" w="19050">
            <a:solidFill>
              <a:srgbClr val="D6E3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6EC397-E180-4E0E-9E78-78E3E6F6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2480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rPr>
              <a:t>SOLANA PROGRAM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D31B3-DAFA-4EC0-8EAA-ACE559EA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6766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release_</a:t>
            </a:r>
          </a:p>
          <a:p xmlns:a="http://schemas.openxmlformats.org/drawingml/2006/main">
            <a:pPr algn="ctr">
              <a:defRPr sz="1650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escrow()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BA4A57-0965-4CB9-A150-3F9165D4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5339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Escrow settles</a:t>
            </a:r>
          </a:p>
          <a:p xmlns:a="http://schemas.openxmlformats.org/drawingml/2006/main">
            <a:pPr algn="ctr">
              <a:defRPr sz="1050" b="0">
                <a:solidFill>
                  <a:srgbClr val="C2C9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2C9D3"/>
                </a:solidFill>
                <a:latin typeface="Arial"/>
                <a:ea typeface="Arial"/>
                <a:cs typeface="Arial"/>
              </a:rPr>
              <a:t>on devnet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246A51-E343-4E3C-9675-DED42DB2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2F4481-E27F-422A-B526-C010BDF9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>
                <a:solidFill>
                  <a:srgbClr val="D6E34D"/>
                </a:solidFill>
                <a:latin typeface="Courier New"/>
                <a:ea typeface="Courier New"/>
                <a:cs typeface="Courier New"/>
              </a:rPr>
              <a:t>DEMO CONTRACT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112C6E-7FBC-415E-8FBA-F48203DF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7340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Enabled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33C9A0-CA78-4C0A-ABFF-3E2D6BFF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791200"/>
            <a:ext cx="457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1B6ABF-EFF1-47EF-B3DB-B05322AE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7340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Triggered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E9419D-AF1D-49D7-B228-21178C44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791200"/>
            <a:ext cx="457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21F492-F966-4A46-A2E9-C890604E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7340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4EEE2"/>
                </a:solidFill>
                <a:latin typeface="Courier New"/>
                <a:ea typeface="Courier New"/>
                <a:cs typeface="Courier New"/>
              </a:rPr>
              <a:t>Verified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DDF347-5DE3-452B-A30F-7AEC5BD9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791200"/>
            <a:ext cx="4572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C69237-F05C-4565-9129-B589AD13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734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6E34D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D6E34D"/>
                </a:solidFill>
                <a:latin typeface="Courier New"/>
                <a:ea typeface="Courier New"/>
                <a:cs typeface="Courier New"/>
              </a:rPr>
              <a:t>Executed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8E4E4D-D89C-42A3-8402-46063891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59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2BD687-9A25-46CF-A1D4-E7916992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FF5538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6B9DE8-C075-4181-8746-0E3E44DE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627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defRPr>
            </a:pPr>
            <a:r>
              <a:rPr sz="900" b="0">
                <a:solidFill>
                  <a:srgbClr val="C2C9D3"/>
                </a:solidFill>
                <a:latin typeface="Courier New"/>
                <a:ea typeface="Courier New"/>
                <a:cs typeface="Courier New"/>
              </a:rPr>
              <a:t>SOLstice / AUTOMATIC SETTLEMENT</a:t>
            </a:r>
          </a:p>
        </p:txBody>
      </p:sp>
    </p:spTree>
    <p:extLst>
      <p:ext uri="{BB962C8B-B14F-4D97-AF65-F5344CB8AC3E}">
        <p14:creationId xmlns:p14="http://schemas.microsoft.com/office/powerpoint/2010/main" val="10504183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2026-10-04T14:59:18.0470000Z</dcterms:created>
  <dcterms:modified xsi:type="dcterms:W3CDTF">2026-10-04T14:59:18.0470000Z</dcterms:modified>
</coreProperties>
</file>